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12192000"/>
  <p:embeddedFontLst>
    <p:embeddedFont>
      <p:font typeface="JetBrains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font" Target="fonts/JetBrainsMono-regular.fntdata"/><Relationship Id="rId25" Type="http://schemas.openxmlformats.org/officeDocument/2006/relationships/font" Target="fonts/JetBrainsMono-bold.fntdata"/><Relationship Id="rId26" Type="http://schemas.openxmlformats.org/officeDocument/2006/relationships/font" Target="fonts/JetBrainsMono-italic.fntdata"/><Relationship Id="rId27" Type="http://schemas.openxmlformats.org/officeDocument/2006/relationships/font" Target="fonts/JetBrainsMon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b60bf9cd6_1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fb60bf9cd6_1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b60bf9cd6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fb60bf9cd6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0" name="Google Shape;42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hyperlink" Target="https://explore.openaq.org/?location=2874879#10.41/-35.6933/-59.6462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1.png"/><Relationship Id="rId9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2.jpg"/><Relationship Id="rId5" Type="http://schemas.openxmlformats.org/officeDocument/2006/relationships/image" Target="../media/image15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6.jp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Relationship Id="rId7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29.png"/><Relationship Id="rId7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Relationship Id="rId4" Type="http://schemas.openxmlformats.org/officeDocument/2006/relationships/hyperlink" Target="https://apps.ambiente.gba.gob.ar/cemca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Relationship Id="rId4" Type="http://schemas.openxmlformats.org/officeDocument/2006/relationships/image" Target="../media/image39.png"/><Relationship Id="rId5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8.png"/><Relationship Id="rId4" Type="http://schemas.openxmlformats.org/officeDocument/2006/relationships/image" Target="../media/image40.png"/><Relationship Id="rId5" Type="http://schemas.openxmlformats.org/officeDocument/2006/relationships/image" Target="../media/image26.png"/><Relationship Id="rId6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282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ptx_build/icons/title_wind.png" id="16" name="Google Shape;16;p3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7863840" y="1463040"/>
            <a:ext cx="4754880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/>
        </p:nvSpPr>
        <p:spPr>
          <a:xfrm>
            <a:off x="822960" y="19659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4800"/>
              </a:buClr>
              <a:buSzPts val="1400"/>
              <a:buFont typeface="Calibri"/>
              <a:buNone/>
            </a:pPr>
            <a:r>
              <a:rPr b="1" i="0" lang="en-US" sz="1550" u="none" cap="none" strike="noStrike">
                <a:solidFill>
                  <a:srgbClr val="B84800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822960" y="2331720"/>
            <a:ext cx="8961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Escuelas en acción por un aire limpio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822960" y="379476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DFD6"/>
              </a:buClr>
              <a:buSzPts val="1700"/>
              <a:buFont typeface="Calibri"/>
              <a:buNone/>
            </a:pPr>
            <a:r>
              <a:rPr b="0" i="0" lang="en-US" sz="180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Sensores de bajo costo para el monitoreo ambiental y la Educación Ambiental Integral en instituciones educativas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822960" y="562356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Ing. Luciano Lamaita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822960" y="594360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200"/>
              <a:buFont typeface="Calibri"/>
              <a:buNone/>
            </a:pPr>
            <a:r>
              <a:rPr lang="en-US" sz="1350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septiembre</a:t>
            </a:r>
            <a:r>
              <a:rPr b="0" i="0" lang="en-US" sz="135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problema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El aire y el agua pueden estar contaminados sin que se note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914400" y="1691640"/>
            <a:ext cx="649224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No existen datos ambientales locales y en tiempo real en los distritos de la región y mucho menos dentro del ámbito escolar.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La ventilación de las aulas (CO₂) casi nunca se mide, pese a que durante las etapas del ASPO (y post pandemia) se implementó el programa Buenos Aires en las Escuelas.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Las escuelas rurales y urbanas de Saladillo y la región son “puntos ciegos” de monitoreo ambiental.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Sin datos propios, es difícil construir política pública local: primero hay que medir para poder decidir.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7863840" y="1737360"/>
            <a:ext cx="3703320" cy="4023360"/>
          </a:xfrm>
          <a:prstGeom prst="roundRect">
            <a:avLst>
              <a:gd fmla="val 2963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8138160" y="201168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HOY, EN SALADILLO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8138160" y="2331720"/>
            <a:ext cx="3154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6800"/>
              <a:buFont typeface="JetBrains Mono"/>
              <a:buNone/>
            </a:pPr>
            <a:r>
              <a:rPr b="1" lang="en-US" sz="6800">
                <a:solidFill>
                  <a:srgbClr val="9B3D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8138160" y="3520440"/>
            <a:ext cx="3154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350"/>
              <a:buFont typeface="Calibri"/>
              <a:buNone/>
            </a:pPr>
            <a:r>
              <a:rPr b="0" i="0" lang="en-US" sz="15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escuela con calidad de aire monitoreada en tiempo real + 1 </a:t>
            </a:r>
            <a:r>
              <a:rPr lang="en-US" sz="1500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fuera de servicio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4"/>
          <p:cNvCxnSpPr/>
          <p:nvPr/>
        </p:nvCxnSpPr>
        <p:spPr>
          <a:xfrm>
            <a:off x="8138160" y="4709160"/>
            <a:ext cx="3154680" cy="0"/>
          </a:xfrm>
          <a:prstGeom prst="straightConnector1">
            <a:avLst/>
          </a:prstGeom>
          <a:noFill/>
          <a:ln cap="flat" cmpd="sng" w="12700">
            <a:solidFill>
              <a:srgbClr val="DDD2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4"/>
          <p:cNvSpPr txBox="1"/>
          <p:nvPr/>
        </p:nvSpPr>
        <p:spPr>
          <a:xfrm>
            <a:off x="8138160" y="489204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300"/>
              <a:buFont typeface="Calibri"/>
              <a:buNone/>
            </a:pPr>
            <a:r>
              <a:rPr b="0" i="1" lang="en-US" sz="14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Este proyecto instala los primeros sensores propios en escuelas de</a:t>
            </a:r>
            <a:r>
              <a:rPr i="1" lang="en-US" sz="14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 la región</a:t>
            </a:r>
            <a:r>
              <a:rPr b="0" i="1" lang="en-US" sz="14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trayectoria.png" id="45" name="Google Shape;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De un programa internacional a una red propia en Saladillo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 txBox="1"/>
          <p:nvPr/>
        </p:nvSpPr>
        <p:spPr>
          <a:xfrm>
            <a:off x="914400" y="169164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ANTECEDENTES (2023–2024)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914400" y="2057400"/>
            <a:ext cx="6035100" cy="40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5425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7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El proyecto se apoya en el Programa de Embajadores Comunitarios de OpenAQ (2023, Argentina), que capacita en monitoreo, transparencia y análisis de datos de calidad del aire.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5425" lvl="0" marL="2286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7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Ya hay monitores desplegados: Clarity Node-S (EP N°15, zona rural), AirGradient Open Air (particular, </a:t>
            </a:r>
            <a:r>
              <a:rPr lang="en-US" sz="1750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zona</a:t>
            </a:r>
            <a:r>
              <a:rPr b="0" i="0" lang="en-US" sz="17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 urban</a:t>
            </a:r>
            <a:r>
              <a:rPr lang="en-US" sz="1750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7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), PurpleAir Flex (Colegio Madre Teresa, zona rural</a:t>
            </a:r>
            <a:r>
              <a:rPr lang="en-US" sz="1750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="0" i="0" lang="en-US" sz="17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 con datos públicos en </a:t>
            </a:r>
            <a:r>
              <a:rPr b="0" i="0" lang="en-US" sz="17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OpenAQ Explorer</a:t>
            </a:r>
            <a:r>
              <a:rPr b="0" i="0" lang="en-US" sz="17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 desde 2023.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5425" lvl="0" marL="2286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7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Se enmarca también en el Grupo de Trabajo Air Quality de la ECSA (European Citizen Science Association).</a:t>
            </a:r>
            <a:endParaRPr sz="1750">
              <a:solidFill>
                <a:srgbClr val="2A1D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5425" lvl="0" marL="2286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sz="1750">
                <a:solidFill>
                  <a:srgbClr val="2A1D12"/>
                </a:solidFill>
                <a:latin typeface="Calibri"/>
              </a:rPr>
              <a:t>PurpleAir Flex (4 unidades, donadas por PurpleAir Collective 2024): pendientes de instalación, todavía no están en uso.</a:t>
            </a:r>
            <a:endParaRPr sz="1750">
              <a:solidFill>
                <a:srgbClr val="2A1D1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7360920" y="1691640"/>
            <a:ext cx="4206240" cy="4343400"/>
          </a:xfrm>
          <a:prstGeom prst="roundRect">
            <a:avLst>
              <a:gd fmla="val 2609" name="adj"/>
            </a:avLst>
          </a:prstGeom>
          <a:solidFill>
            <a:srgbClr val="2E28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7680960" y="19659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4800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B84800"/>
                </a:solidFill>
                <a:latin typeface="Calibri"/>
                <a:ea typeface="Calibri"/>
                <a:cs typeface="Calibri"/>
                <a:sym typeface="Calibri"/>
              </a:rPr>
              <a:t>UN ANTECEDENTE 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 txBox="1"/>
          <p:nvPr/>
        </p:nvSpPr>
        <p:spPr>
          <a:xfrm>
            <a:off x="7680960" y="22402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DFD6"/>
              </a:buClr>
              <a:buSzPts val="1400"/>
              <a:buFont typeface="Calibri"/>
              <a:buNone/>
            </a:pPr>
            <a:r>
              <a:rPr b="0" i="0" lang="en-US" sz="155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colaboración institucional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7680960" y="2697480"/>
            <a:ext cx="3566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través del programa OpenAQ, AirGradient co-localizó equipos junto a instrumentos de referencia de la Auto</a:t>
            </a: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idad de C</a:t>
            </a: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uenca </a:t>
            </a: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atanza </a:t>
            </a: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Riachuelo para contrastar calibraciones entre sensores de bajo costo y equipos certificados.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5"/>
          <p:cNvCxnSpPr/>
          <p:nvPr/>
        </p:nvCxnSpPr>
        <p:spPr>
          <a:xfrm>
            <a:off x="7680960" y="4251960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534A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5"/>
          <p:cNvSpPr txBox="1"/>
          <p:nvPr/>
        </p:nvSpPr>
        <p:spPr>
          <a:xfrm>
            <a:off x="7680960" y="4434840"/>
            <a:ext cx="3566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250"/>
              <a:buFont typeface="Calibri"/>
              <a:buNone/>
            </a:pPr>
            <a:r>
              <a:rPr b="0" i="1" lang="en-US" sz="140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Es el mismo esquema que se busca replicar con el Ministerio de Ambiente </a:t>
            </a:r>
            <a:r>
              <a:rPr i="1" lang="en-US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de la PBA</a:t>
            </a:r>
            <a:r>
              <a:rPr b="0" i="1" lang="en-US" sz="140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1" sz="1400" u="none" cap="none" strike="noStrike">
              <a:solidFill>
                <a:srgbClr val="C9BE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250"/>
              <a:buFont typeface="Calibri"/>
              <a:buNone/>
            </a:pPr>
            <a:r>
              <a:t/>
            </a:r>
            <a:endParaRPr i="1">
              <a:solidFill>
                <a:srgbClr val="C9BE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propuesta.png" id="63" name="Google Shape;6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6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La propuesta: sensores de bajo costo en las escuelas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 txBox="1"/>
          <p:nvPr/>
        </p:nvSpPr>
        <p:spPr>
          <a:xfrm>
            <a:off x="914400" y="169164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300"/>
              <a:buFont typeface="Calibri"/>
              <a:buNone/>
            </a:pPr>
            <a:r>
              <a:rPr b="1" lang="en-US" sz="1900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 txBox="1"/>
          <p:nvPr/>
        </p:nvSpPr>
        <p:spPr>
          <a:xfrm>
            <a:off x="914400" y="2125980"/>
            <a:ext cx="60351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550"/>
              <a:buFont typeface="Calibri"/>
              <a:buNone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Evaluar material particulado (PM1, PM2.5, PM10), compuestos orgánicos volátiles, humedad, temperatura, presión y CO₂ en escuelas urbanas y rurales de la provincia, dentro y fuera del aula.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 txBox="1"/>
          <p:nvPr/>
        </p:nvSpPr>
        <p:spPr>
          <a:xfrm>
            <a:off x="914400" y="3429000"/>
            <a:ext cx="6035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300"/>
              <a:buFont typeface="Calibri"/>
              <a:buNone/>
            </a:pPr>
            <a:r>
              <a:rPr b="1" i="0" lang="en-US" sz="19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Cómo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914400" y="3873715"/>
            <a:ext cx="60351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38125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8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Equipos out-of-the-box (PurpleAir, AirGradient, Clarity) y prototipos DIY con hardware abierto.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8125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A1D12"/>
              </a:buClr>
              <a:buSzPts val="18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Instalación estratégica según ubicación, exposición y valor pedagógico del sitio.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8125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A1D12"/>
              </a:buClr>
              <a:buSzPts val="18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Datos publicados en tiempo real en un portal propio, abierto a la comunidad.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7360920" y="1623053"/>
            <a:ext cx="4206300" cy="4434900"/>
          </a:xfrm>
          <a:prstGeom prst="roundRect">
            <a:avLst>
              <a:gd fmla="val 2609" name="adj"/>
            </a:avLst>
          </a:prstGeom>
          <a:solidFill>
            <a:srgbClr val="2E28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"/>
          <p:cNvSpPr txBox="1"/>
          <p:nvPr/>
        </p:nvSpPr>
        <p:spPr>
          <a:xfrm>
            <a:off x="7680960" y="194767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4800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B84800"/>
                </a:solidFill>
                <a:latin typeface="Calibri"/>
                <a:ea typeface="Calibri"/>
                <a:cs typeface="Calibri"/>
                <a:sym typeface="Calibri"/>
              </a:rPr>
              <a:t>PARTE DE UNA RED INTERNACIONAL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 txBox="1"/>
          <p:nvPr/>
        </p:nvSpPr>
        <p:spPr>
          <a:xfrm>
            <a:off x="7680960" y="2221992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DFD6"/>
              </a:buClr>
              <a:buSzPts val="1400"/>
              <a:buFont typeface="Calibri"/>
              <a:buNone/>
            </a:pPr>
            <a:r>
              <a:rPr b="0" i="0" lang="en-US" sz="155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de ciencia ciudadana ambiental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6"/>
          <p:cNvCxnSpPr/>
          <p:nvPr/>
        </p:nvCxnSpPr>
        <p:spPr>
          <a:xfrm>
            <a:off x="7680960" y="5067953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534A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6"/>
          <p:cNvSpPr txBox="1"/>
          <p:nvPr/>
        </p:nvSpPr>
        <p:spPr>
          <a:xfrm>
            <a:off x="7680960" y="5177953"/>
            <a:ext cx="3566160" cy="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000"/>
              <a:buFont typeface="Calibri"/>
              <a:buNone/>
            </a:pPr>
            <a:r>
              <a:rPr b="0" i="1" lang="en-US" sz="125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En el marco del Programa de Embajadores Comunitarios de OpenAQ (2023) y del Grupo de Trabajo Air Quality de la ECSA.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7680990" y="2774691"/>
            <a:ext cx="1050000" cy="450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77" name="Google Shape;7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8797" y="2854691"/>
            <a:ext cx="574384" cy="28999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/>
          <p:nvPr/>
        </p:nvSpPr>
        <p:spPr>
          <a:xfrm>
            <a:off x="8939070" y="2774691"/>
            <a:ext cx="1050000" cy="450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79" name="Google Shape;7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00434" y="2854691"/>
            <a:ext cx="527272" cy="29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/>
        </p:nvSpPr>
        <p:spPr>
          <a:xfrm>
            <a:off x="10197150" y="2774691"/>
            <a:ext cx="1050000" cy="450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1" name="Google Shape;8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77150" y="2905747"/>
            <a:ext cx="889999" cy="1878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6"/>
          <p:cNvSpPr/>
          <p:nvPr/>
        </p:nvSpPr>
        <p:spPr>
          <a:xfrm>
            <a:off x="7830990" y="3674691"/>
            <a:ext cx="950100" cy="9501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re_ciudadano_clean.png" id="83" name="Google Shape;8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75990" y="3844441"/>
            <a:ext cx="660000" cy="6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6"/>
          <p:cNvSpPr/>
          <p:nvPr/>
        </p:nvSpPr>
        <p:spPr>
          <a:xfrm>
            <a:off x="8989070" y="3674691"/>
            <a:ext cx="950100" cy="9501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5" name="Google Shape;8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80796" y="3819691"/>
            <a:ext cx="566548" cy="6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/>
          <p:nvPr/>
        </p:nvSpPr>
        <p:spPr>
          <a:xfrm>
            <a:off x="10147150" y="3674691"/>
            <a:ext cx="950100" cy="9501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7" name="Google Shape;87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292150" y="3825802"/>
            <a:ext cx="660000" cy="647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equipos.png" id="94" name="Google Shape;9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Los equipos, en el terreno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914400" y="1828800"/>
            <a:ext cx="3261665" cy="2743200"/>
          </a:xfrm>
          <a:prstGeom prst="roundRect">
            <a:avLst>
              <a:gd fmla="val 3333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assets/airgradient_deploy.jpg" id="97" name="Google Shape;9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1977276"/>
            <a:ext cx="3261665" cy="244624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7"/>
          <p:cNvSpPr txBox="1"/>
          <p:nvPr/>
        </p:nvSpPr>
        <p:spPr>
          <a:xfrm>
            <a:off x="914400" y="4663440"/>
            <a:ext cx="326166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00"/>
              <a:buFont typeface="Calibri"/>
              <a:buNone/>
            </a:pPr>
            <a:r>
              <a:rPr b="0" i="1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AirGradient Open Air instalado — Programa OpenAQ, 2023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4450385" y="1828800"/>
            <a:ext cx="3261600" cy="2743200"/>
          </a:xfrm>
          <a:prstGeom prst="roundRect">
            <a:avLst>
              <a:gd fmla="val 3333" name="adj"/>
            </a:avLst>
          </a:prstGeom>
          <a:solidFill>
            <a:srgbClr val="00000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4450385" y="4663440"/>
            <a:ext cx="326166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00"/>
              <a:buFont typeface="Calibri"/>
              <a:buNone/>
            </a:pPr>
            <a:r>
              <a:rPr b="0" i="1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Sensor instalado en una escuela de Saladillo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7986370" y="1828800"/>
            <a:ext cx="3261665" cy="2743200"/>
          </a:xfrm>
          <a:prstGeom prst="roundRect">
            <a:avLst>
              <a:gd fmla="val 3333" name="adj"/>
            </a:avLst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7986370" y="4663440"/>
            <a:ext cx="326166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00"/>
              <a:buFont typeface="Calibri"/>
              <a:buNone/>
            </a:pPr>
            <a:r>
              <a:rPr b="0" i="1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El portal aq.lemeit.ar en uso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50390" y="1980082"/>
            <a:ext cx="3261660" cy="2443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7"/>
          <p:cNvPicPr preferRelativeResize="0"/>
          <p:nvPr/>
        </p:nvPicPr>
        <p:blipFill rotWithShape="1">
          <a:blip r:embed="rId6">
            <a:alphaModFix/>
          </a:blip>
          <a:srcRect b="7114" l="999" r="7376" t="11855"/>
          <a:stretch/>
        </p:blipFill>
        <p:spPr>
          <a:xfrm>
            <a:off x="7986375" y="1980075"/>
            <a:ext cx="3261600" cy="244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/>
          <p:nvPr/>
        </p:nvSpPr>
        <p:spPr>
          <a:xfrm>
            <a:off x="548640" y="502920"/>
            <a:ext cx="567000" cy="567000"/>
          </a:xfrm>
          <a:prstGeom prst="ellipse">
            <a:avLst/>
          </a:prstGeom>
          <a:solidFill>
            <a:srgbClr val="9B3D0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1.png" id="112" name="Google Shape;11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8"/>
          <p:cNvSpPr txBox="1"/>
          <p:nvPr/>
        </p:nvSpPr>
        <p:spPr>
          <a:xfrm>
            <a:off x="1325880" y="457200"/>
            <a:ext cx="1024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Los sensores: qué miden y qué necesitan</a:t>
            </a:r>
            <a:endParaRPr/>
          </a:p>
        </p:txBody>
      </p:sp>
      <p:sp>
        <p:nvSpPr>
          <p:cNvPr id="114" name="Google Shape;114;p8"/>
          <p:cNvSpPr txBox="1"/>
          <p:nvPr/>
        </p:nvSpPr>
        <p:spPr>
          <a:xfrm>
            <a:off x="548640" y="6400800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sz="1250"/>
          </a:p>
        </p:txBody>
      </p:sp>
      <p:sp>
        <p:nvSpPr>
          <p:cNvPr id="115" name="Google Shape;115;p8"/>
          <p:cNvSpPr txBox="1"/>
          <p:nvPr/>
        </p:nvSpPr>
        <p:spPr>
          <a:xfrm>
            <a:off x="11457432" y="6400800"/>
            <a:ext cx="457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rpleair_flex_crop.jpg" id="116" name="Google Shape;11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1150000"/>
            <a:ext cx="5357361" cy="2400000"/>
          </a:xfrm>
          <a:prstGeom prst="rect">
            <a:avLst/>
          </a:prstGeom>
          <a:noFill/>
          <a:ln>
            <a:noFill/>
          </a:ln>
          <a:effectLst>
            <a:outerShdw blurRad="127000" rotWithShape="0" algn="bl" dir="5400000" dist="38100">
              <a:srgbClr val="2A1D12">
                <a:alpha val="18040"/>
              </a:srgbClr>
            </a:outerShdw>
          </a:effectLst>
        </p:spPr>
      </p:pic>
      <p:sp>
        <p:nvSpPr>
          <p:cNvPr id="117" name="Google Shape;117;p8"/>
          <p:cNvSpPr txBox="1"/>
          <p:nvPr/>
        </p:nvSpPr>
        <p:spPr>
          <a:xfrm>
            <a:off x="548640" y="3580000"/>
            <a:ext cx="5357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PurpleAir Flex — sensor ensamblado y su interior (doble láser PMS-6003)</a:t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548640" y="3880000"/>
            <a:ext cx="5357400" cy="2439900"/>
          </a:xfrm>
          <a:prstGeom prst="roundRect">
            <a:avLst>
              <a:gd fmla="val 3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4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768640" y="4030000"/>
            <a:ext cx="4917300" cy="19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Mide: </a:t>
            </a:r>
            <a:r>
              <a:rPr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PM1, PM2.5, PM10, temperatura, humedad, presión e índice COV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Sensor: </a:t>
            </a:r>
            <a:r>
              <a:rPr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2 láseres Plantower PMS-6003 (redundantes, reemplazables)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Conectividad: </a:t>
            </a:r>
            <a:r>
              <a:rPr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WiFi 2,4 GHz — </a:t>
            </a:r>
            <a:r>
              <a:rPr lang="en-US" sz="1200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pública</a:t>
            </a:r>
            <a:r>
              <a:rPr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 en el mapa público de PurpleAir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Alimentación: </a:t>
            </a:r>
            <a:r>
              <a:rPr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Micro-USB, 5 V / 1 A (fuente no incluida)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Gabinete: </a:t>
            </a:r>
            <a:r>
              <a:rPr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apto intemperie, para exterior</a:t>
            </a:r>
            <a:endParaRPr i="0" sz="1200" u="none" cap="none" strike="noStrike">
              <a:solidFill>
                <a:srgbClr val="2A1D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Peso:</a:t>
            </a:r>
            <a:r>
              <a:rPr lang="en-US" sz="1200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 250 g</a:t>
            </a:r>
            <a:endParaRPr sz="1200">
              <a:solidFill>
                <a:srgbClr val="2A1D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Para Argentina: </a:t>
            </a:r>
            <a:r>
              <a:rPr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no hace falta importar el cargador — cualquier fuente USB de pared de 220 V ya sirve, solo hay que conseguir el cable micro-USB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 txBox="1"/>
          <p:nvPr/>
        </p:nvSpPr>
        <p:spPr>
          <a:xfrm>
            <a:off x="6286000" y="3580000"/>
            <a:ext cx="5357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AirGradient Open Air (O-1PST) instalado — antecedente 2023, Programa OpenAQ</a:t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6286000" y="3880000"/>
            <a:ext cx="5357400" cy="2439900"/>
          </a:xfrm>
          <a:prstGeom prst="roundRect">
            <a:avLst>
              <a:gd fmla="val 3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4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8"/>
          <p:cNvSpPr txBox="1"/>
          <p:nvPr/>
        </p:nvSpPr>
        <p:spPr>
          <a:xfrm>
            <a:off x="6506000" y="4030000"/>
            <a:ext cx="4917300" cy="19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Mide: </a:t>
            </a:r>
            <a:r>
              <a:rPr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PM1</a:t>
            </a:r>
            <a:r>
              <a:rPr lang="en-US" sz="1200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PM2.5</a:t>
            </a:r>
            <a:r>
              <a:rPr lang="en-US" sz="1200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PM10, CO2, COV y NOx, temperatura y humedad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Sensores: </a:t>
            </a:r>
            <a:r>
              <a:rPr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Plantower PMS5003T · SenseAir S8 · Sensirion SGP41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Conectividad: </a:t>
            </a:r>
            <a:r>
              <a:rPr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WiFi 2,4 GHz (existe también versión con 4G)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Alimentación: </a:t>
            </a:r>
            <a:r>
              <a:rPr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USB-C</a:t>
            </a:r>
            <a:r>
              <a:rPr lang="en-US" sz="1200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— 5 V / 2 A (fuente no incluida)</a:t>
            </a:r>
            <a:endParaRPr i="0" sz="1200" u="none" cap="none" strike="noStrike">
              <a:solidFill>
                <a:srgbClr val="2A1D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Gabinete: </a:t>
            </a:r>
            <a:r>
              <a:rPr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plástico ASA, apto UV e intemperie, para pared o poste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Peso:</a:t>
            </a:r>
            <a:r>
              <a:rPr lang="en-US" sz="1200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 200 g</a:t>
            </a:r>
            <a:endParaRPr sz="1200">
              <a:solidFill>
                <a:srgbClr val="2A1D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Para Argentina: </a:t>
            </a:r>
            <a:r>
              <a:rPr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mismo criterio que el PurpleAir — cargador USB estándar de 220 V, sin importar nada extra. Hardware y diseño abiertos (open source)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85113" y="1141600"/>
            <a:ext cx="2258812" cy="240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8"/>
          <p:cNvPicPr preferRelativeResize="0"/>
          <p:nvPr/>
        </p:nvPicPr>
        <p:blipFill rotWithShape="1">
          <a:blip r:embed="rId6">
            <a:alphaModFix/>
          </a:blip>
          <a:srcRect b="0" l="0" r="43285" t="0"/>
          <a:stretch/>
        </p:blipFill>
        <p:spPr>
          <a:xfrm>
            <a:off x="8801200" y="1141600"/>
            <a:ext cx="2709130" cy="240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parametros.png" id="131" name="Google Shape;13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9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Qué se mide, y por qué importa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 txBox="1"/>
          <p:nvPr/>
        </p:nvSpPr>
        <p:spPr>
          <a:xfrm>
            <a:off x="914400" y="169164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000"/>
              <a:buFont typeface="JetBrains Mono"/>
              <a:buNone/>
            </a:pPr>
            <a:r>
              <a:rPr b="1" i="0" lang="en-US" sz="1350" u="none" cap="none" strike="noStrike">
                <a:solidFill>
                  <a:srgbClr val="9B3D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PARÁMETRO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3977640" y="16916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000"/>
              <a:buFont typeface="JetBrains Mono"/>
              <a:buNone/>
            </a:pPr>
            <a:r>
              <a:rPr b="1" i="0" lang="en-US" sz="1350" u="none" cap="none" strike="noStrike">
                <a:solidFill>
                  <a:srgbClr val="9B3D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QUÉ 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 txBox="1"/>
          <p:nvPr/>
        </p:nvSpPr>
        <p:spPr>
          <a:xfrm>
            <a:off x="6537960" y="169164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000"/>
              <a:buFont typeface="JetBrains Mono"/>
              <a:buNone/>
            </a:pPr>
            <a:r>
              <a:rPr b="1" i="0" lang="en-US" sz="1350" u="none" cap="none" strike="noStrike">
                <a:solidFill>
                  <a:srgbClr val="9B3D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POR QUÉ IMPORTA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9"/>
          <p:cNvCxnSpPr/>
          <p:nvPr/>
        </p:nvCxnSpPr>
        <p:spPr>
          <a:xfrm>
            <a:off x="914400" y="2011680"/>
            <a:ext cx="10241280" cy="0"/>
          </a:xfrm>
          <a:prstGeom prst="straightConnector1">
            <a:avLst/>
          </a:prstGeom>
          <a:noFill/>
          <a:ln cap="flat" cmpd="sng" w="12700">
            <a:solidFill>
              <a:srgbClr val="DDD2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9"/>
          <p:cNvSpPr txBox="1"/>
          <p:nvPr/>
        </p:nvSpPr>
        <p:spPr>
          <a:xfrm>
            <a:off x="914400" y="2148840"/>
            <a:ext cx="2880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15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PM1 · PM2.5 · PM10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 txBox="1"/>
          <p:nvPr/>
        </p:nvSpPr>
        <p:spPr>
          <a:xfrm>
            <a:off x="3977628" y="2071115"/>
            <a:ext cx="2377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Material particulado en suspensión, según su diámetro (1 / 2,5 / 10 micrones)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 txBox="1"/>
          <p:nvPr/>
        </p:nvSpPr>
        <p:spPr>
          <a:xfrm>
            <a:off x="6537960" y="2148840"/>
            <a:ext cx="4617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El PM2.5 penetra más profundo en el sistema respiratorio; Argentina promedia niveles que duplican la guía de la OMS.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9"/>
          <p:cNvCxnSpPr/>
          <p:nvPr/>
        </p:nvCxnSpPr>
        <p:spPr>
          <a:xfrm>
            <a:off x="914400" y="2788920"/>
            <a:ext cx="10241280" cy="0"/>
          </a:xfrm>
          <a:prstGeom prst="straightConnector1">
            <a:avLst/>
          </a:prstGeom>
          <a:noFill/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9"/>
          <p:cNvSpPr txBox="1"/>
          <p:nvPr/>
        </p:nvSpPr>
        <p:spPr>
          <a:xfrm>
            <a:off x="914400" y="280720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15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COV (VOC)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 txBox="1"/>
          <p:nvPr/>
        </p:nvSpPr>
        <p:spPr>
          <a:xfrm>
            <a:off x="3977640" y="280720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Compuestos orgánicos volátiles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 txBox="1"/>
          <p:nvPr/>
        </p:nvSpPr>
        <p:spPr>
          <a:xfrm>
            <a:off x="6537960" y="280720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Trazan fuentes de combustión, pinturas, solventes y otros contaminantes del aire interior y exterior.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9"/>
          <p:cNvCxnSpPr/>
          <p:nvPr/>
        </p:nvCxnSpPr>
        <p:spPr>
          <a:xfrm>
            <a:off x="914400" y="3246120"/>
            <a:ext cx="10241280" cy="0"/>
          </a:xfrm>
          <a:prstGeom prst="straightConnector1">
            <a:avLst/>
          </a:prstGeom>
          <a:noFill/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9"/>
          <p:cNvSpPr txBox="1"/>
          <p:nvPr/>
        </p:nvSpPr>
        <p:spPr>
          <a:xfrm>
            <a:off x="914400" y="326440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15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 txBox="1"/>
          <p:nvPr/>
        </p:nvSpPr>
        <p:spPr>
          <a:xfrm>
            <a:off x="3977640" y="326440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Óxidos de nitrógeno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 txBox="1"/>
          <p:nvPr/>
        </p:nvSpPr>
        <p:spPr>
          <a:xfrm>
            <a:off x="6537960" y="326440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Asociados al tránsito vehicular y a procesos de combustión.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9"/>
          <p:cNvCxnSpPr/>
          <p:nvPr/>
        </p:nvCxnSpPr>
        <p:spPr>
          <a:xfrm>
            <a:off x="914400" y="3703320"/>
            <a:ext cx="10241280" cy="0"/>
          </a:xfrm>
          <a:prstGeom prst="straightConnector1">
            <a:avLst/>
          </a:prstGeom>
          <a:noFill/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9"/>
          <p:cNvSpPr txBox="1"/>
          <p:nvPr/>
        </p:nvSpPr>
        <p:spPr>
          <a:xfrm>
            <a:off x="914400" y="372160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15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3977628" y="3721608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Dióxido de carbono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6537960" y="372160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Indicador directo de la ventilación del aula: a mayor acumulación, peor recambio de aire.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9"/>
          <p:cNvCxnSpPr/>
          <p:nvPr/>
        </p:nvCxnSpPr>
        <p:spPr>
          <a:xfrm>
            <a:off x="914400" y="4160520"/>
            <a:ext cx="10241280" cy="0"/>
          </a:xfrm>
          <a:prstGeom prst="straightConnector1">
            <a:avLst/>
          </a:prstGeom>
          <a:noFill/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9"/>
          <p:cNvSpPr txBox="1"/>
          <p:nvPr/>
        </p:nvSpPr>
        <p:spPr>
          <a:xfrm>
            <a:off x="914400" y="417880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15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Humedad y temperatura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3977640" y="417880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Condiciones ambientales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6537960" y="417880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Contexto necesario para interpretar correctamente el resto de los parámetros.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9"/>
          <p:cNvCxnSpPr/>
          <p:nvPr/>
        </p:nvCxnSpPr>
        <p:spPr>
          <a:xfrm>
            <a:off x="914400" y="4617720"/>
            <a:ext cx="10241280" cy="0"/>
          </a:xfrm>
          <a:prstGeom prst="straightConnector1">
            <a:avLst/>
          </a:prstGeom>
          <a:noFill/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9"/>
          <p:cNvSpPr txBox="1"/>
          <p:nvPr/>
        </p:nvSpPr>
        <p:spPr>
          <a:xfrm>
            <a:off x="914400" y="463600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15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Presión atmosférica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3977640" y="463600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Presión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6537960" y="463600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Completa el panorama meteorológico del sitio de medición.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914400" y="5609428"/>
            <a:ext cx="1033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950"/>
              <a:buFont typeface="Calibri"/>
              <a:buNone/>
            </a:pPr>
            <a:r>
              <a:rPr b="0" i="1" lang="en-US" sz="12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Fuente: parámetros y umbrales de referencia según el Programa de Embajadores OpenAQ (2023–24) y guías de calidad del aire de la OMS.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lang="en-US" sz="12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portal.png" id="169" name="Google Shape;16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aq.lemeit.ar — cómo se leen los datos, y para qué sirven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 txBox="1"/>
          <p:nvPr/>
        </p:nvSpPr>
        <p:spPr>
          <a:xfrm>
            <a:off x="914400" y="1642603"/>
            <a:ext cx="5577900" cy="3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13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Mapa en vivo de los sensores activos, con AQI y PM2.5 al instante.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Historial por sensor en ventanas — 24 h / 7 días / 30 días — en gráfico y en tabla, escalable a más sensores.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Acceso abierto también por API pública (JSON) y exportación a CSV, para analizar los datos con otras herramientas.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Para qué sirve: series reales para trabajar en clase, insumo para ferias de ciencia, y evidencia para pedir mejoras o alertar situaciones puntuales.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6489409" y="5741937"/>
            <a:ext cx="5577900" cy="548700"/>
          </a:xfrm>
          <a:prstGeom prst="roundRect">
            <a:avLst>
              <a:gd fmla="val 50000" name="adj"/>
            </a:avLst>
          </a:prstGeom>
          <a:solidFill>
            <a:srgbClr val="F0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0"/>
          <p:cNvSpPr txBox="1"/>
          <p:nvPr/>
        </p:nvSpPr>
        <p:spPr>
          <a:xfrm>
            <a:off x="6485995" y="5741931"/>
            <a:ext cx="557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500"/>
              <a:buFont typeface="JetBrains Mono"/>
              <a:buNone/>
            </a:pPr>
            <a:r>
              <a:rPr b="1" i="0" lang="en-US" sz="1600" u="none" cap="none" strike="noStrike">
                <a:solidFill>
                  <a:srgbClr val="9B3D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aq.lemeit.ar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4" name="Google Shape;174;p10"/>
          <p:cNvGrpSpPr/>
          <p:nvPr/>
        </p:nvGrpSpPr>
        <p:grpSpPr>
          <a:xfrm>
            <a:off x="6858000" y="1471353"/>
            <a:ext cx="4709100" cy="4160400"/>
            <a:chOff x="6858000" y="1783080"/>
            <a:chExt cx="4709100" cy="4160400"/>
          </a:xfrm>
        </p:grpSpPr>
        <p:sp>
          <p:nvSpPr>
            <p:cNvPr id="175" name="Google Shape;175;p10"/>
            <p:cNvSpPr/>
            <p:nvPr/>
          </p:nvSpPr>
          <p:spPr>
            <a:xfrm>
              <a:off x="6858000" y="1783080"/>
              <a:ext cx="4709100" cy="4160400"/>
            </a:xfrm>
            <a:prstGeom prst="roundRect">
              <a:avLst>
                <a:gd fmla="val 3077" name="adj"/>
              </a:avLst>
            </a:prstGeom>
            <a:solidFill>
              <a:srgbClr val="2E2822"/>
            </a:solidFill>
            <a:ln>
              <a:noFill/>
            </a:ln>
            <a:effectLst>
              <a:outerShdw blurRad="177800" rotWithShape="0" algn="bl" dir="5400000" dist="50800">
                <a:srgbClr val="000000">
                  <a:alpha val="2509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0"/>
            <p:cNvSpPr/>
            <p:nvPr/>
          </p:nvSpPr>
          <p:spPr>
            <a:xfrm>
              <a:off x="7086600" y="1965960"/>
              <a:ext cx="118872" cy="118872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0"/>
            <p:cNvSpPr/>
            <p:nvPr/>
          </p:nvSpPr>
          <p:spPr>
            <a:xfrm>
              <a:off x="7315200" y="1965960"/>
              <a:ext cx="118872" cy="118872"/>
            </a:xfrm>
            <a:prstGeom prst="ellipse">
              <a:avLst/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0"/>
            <p:cNvSpPr/>
            <p:nvPr/>
          </p:nvSpPr>
          <p:spPr>
            <a:xfrm>
              <a:off x="7543800" y="1965960"/>
              <a:ext cx="118800" cy="118800"/>
            </a:xfrm>
            <a:prstGeom prst="ellipse">
              <a:avLst/>
            </a:prstGeom>
            <a:solidFill>
              <a:srgbClr val="B84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p10"/>
          <p:cNvGrpSpPr/>
          <p:nvPr/>
        </p:nvGrpSpPr>
        <p:grpSpPr>
          <a:xfrm>
            <a:off x="6995150" y="1910265"/>
            <a:ext cx="4434910" cy="3584400"/>
            <a:chOff x="6995150" y="2221992"/>
            <a:chExt cx="4434910" cy="3584400"/>
          </a:xfrm>
        </p:grpSpPr>
        <p:sp>
          <p:nvSpPr>
            <p:cNvPr id="180" name="Google Shape;180;p10"/>
            <p:cNvSpPr/>
            <p:nvPr/>
          </p:nvSpPr>
          <p:spPr>
            <a:xfrm>
              <a:off x="6995160" y="2221992"/>
              <a:ext cx="4434900" cy="3584400"/>
            </a:xfrm>
            <a:prstGeom prst="roundRect">
              <a:avLst>
                <a:gd fmla="val 102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/home/claude/pptx_build/assets/screenshot_aq.png" id="181" name="Google Shape;181;p10"/>
            <p:cNvPicPr preferRelativeResize="0"/>
            <p:nvPr/>
          </p:nvPicPr>
          <p:blipFill rotWithShape="1">
            <a:blip r:embed="rId4">
              <a:alphaModFix/>
            </a:blip>
            <a:srcRect b="0" l="0" r="1961" t="0"/>
            <a:stretch/>
          </p:blipFill>
          <p:spPr>
            <a:xfrm>
              <a:off x="6995150" y="2628325"/>
              <a:ext cx="4434851" cy="282722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2" name="Google Shape;182;p10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lang="en-US" sz="12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ambiental.png" id="190" name="Google Shape;19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1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Valor ambiental: datos abiertos para decidir con evidencia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914400" y="1874520"/>
            <a:ext cx="2377440" cy="2331720"/>
          </a:xfrm>
          <a:prstGeom prst="roundRect">
            <a:avLst>
              <a:gd fmla="val 3922" name="adj"/>
            </a:avLst>
          </a:prstGeom>
          <a:solidFill>
            <a:srgbClr val="F0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1115568" y="2075688"/>
            <a:ext cx="457200" cy="45720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chart.png" id="194" name="Google Shape;19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5296" y="21854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1"/>
          <p:cNvSpPr txBox="1"/>
          <p:nvPr/>
        </p:nvSpPr>
        <p:spPr>
          <a:xfrm>
            <a:off x="1097280" y="265176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450"/>
              <a:buFont typeface="Calibri"/>
              <a:buNone/>
            </a:pPr>
            <a:r>
              <a:rPr b="1" i="0" lang="en-US" sz="16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Tendencias y fuentes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 txBox="1"/>
          <p:nvPr/>
        </p:nvSpPr>
        <p:spPr>
          <a:xfrm>
            <a:off x="1097280" y="3154680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50"/>
              <a:buFont typeface="Calibri"/>
              <a:buNone/>
            </a:pPr>
            <a:r>
              <a:rPr b="0" i="0" lang="en-US" sz="15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El monitoreo continuo permite identificar picos de contaminación y sus posibles fuentes.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3547872" y="1874520"/>
            <a:ext cx="2377440" cy="2331720"/>
          </a:xfrm>
          <a:prstGeom prst="roundRect">
            <a:avLst>
              <a:gd fmla="val 3922" name="adj"/>
            </a:avLst>
          </a:prstGeom>
          <a:solidFill>
            <a:srgbClr val="F0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3749040" y="2075688"/>
            <a:ext cx="457200" cy="45720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ley.png" id="199" name="Google Shape;19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58768" y="21854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1"/>
          <p:cNvSpPr txBox="1"/>
          <p:nvPr/>
        </p:nvSpPr>
        <p:spPr>
          <a:xfrm>
            <a:off x="3730752" y="265176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450"/>
              <a:buFont typeface="Calibri"/>
              <a:buNone/>
            </a:pPr>
            <a:r>
              <a:rPr b="1" i="0" lang="en-US" sz="16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Base para decidir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 txBox="1"/>
          <p:nvPr/>
        </p:nvSpPr>
        <p:spPr>
          <a:xfrm>
            <a:off x="3730702" y="3124816"/>
            <a:ext cx="2011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50"/>
              <a:buFont typeface="Calibri"/>
              <a:buNone/>
            </a:pPr>
            <a:r>
              <a:rPr b="0" i="0" lang="en-US" sz="15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Datos propios como insumo para ordenanzas y políticas locales de aire limpio.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6181344" y="1874520"/>
            <a:ext cx="2377440" cy="2331720"/>
          </a:xfrm>
          <a:prstGeom prst="roundRect">
            <a:avLst>
              <a:gd fmla="val 3922" name="adj"/>
            </a:avLst>
          </a:prstGeom>
          <a:solidFill>
            <a:srgbClr val="F0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6382512" y="2075688"/>
            <a:ext cx="457200" cy="45720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globe.png" id="204" name="Google Shape;20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92240" y="21854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1"/>
          <p:cNvSpPr txBox="1"/>
          <p:nvPr/>
        </p:nvSpPr>
        <p:spPr>
          <a:xfrm>
            <a:off x="6364224" y="265176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450"/>
              <a:buFont typeface="Calibri"/>
              <a:buNone/>
            </a:pPr>
            <a:r>
              <a:rPr b="1" i="0" lang="en-US" sz="16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Monitoreo integral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6364224" y="3105543"/>
            <a:ext cx="2011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50"/>
              <a:buFont typeface="Calibri"/>
              <a:buNone/>
            </a:pPr>
            <a:r>
              <a:rPr b="0" i="0" lang="en-US" sz="15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Aire, clima y agua en un mismo ecosistema: los portales aq · ema · wq.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8814816" y="1874520"/>
            <a:ext cx="2377440" cy="2331720"/>
          </a:xfrm>
          <a:prstGeom prst="roundRect">
            <a:avLst>
              <a:gd fmla="val 3922" name="adj"/>
            </a:avLst>
          </a:prstGeom>
          <a:solidFill>
            <a:srgbClr val="F0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9015984" y="2075688"/>
            <a:ext cx="457200" cy="45720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users.png" id="209" name="Google Shape;209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25712" y="21854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1"/>
          <p:cNvSpPr txBox="1"/>
          <p:nvPr/>
        </p:nvSpPr>
        <p:spPr>
          <a:xfrm>
            <a:off x="8997696" y="265176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450"/>
              <a:buFont typeface="Calibri"/>
              <a:buNone/>
            </a:pPr>
            <a:r>
              <a:rPr b="1" i="0" lang="en-US" sz="16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Datos abiertos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 txBox="1"/>
          <p:nvPr/>
        </p:nvSpPr>
        <p:spPr>
          <a:xfrm>
            <a:off x="8997621" y="3105568"/>
            <a:ext cx="2011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50"/>
              <a:buFont typeface="Calibri"/>
              <a:buNone/>
            </a:pPr>
            <a:r>
              <a:rPr b="0" i="0" lang="en-US" sz="15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Disponibles para la comunidad, escuelas y organismos de control, sin restricciones.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lang="en-US" sz="12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pedagogico.png" id="220" name="Google Shape;22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2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Valor pedagógico: los estudiantes como protagonistas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914400" y="178308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student.png" id="223" name="Google Shape;22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560" y="19202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2"/>
          <p:cNvSpPr txBox="1"/>
          <p:nvPr/>
        </p:nvSpPr>
        <p:spPr>
          <a:xfrm>
            <a:off x="1691640" y="1764792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9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Construyen y monitorean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 txBox="1"/>
          <p:nvPr/>
        </p:nvSpPr>
        <p:spPr>
          <a:xfrm>
            <a:off x="1691640" y="2075688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Participan de la instalación, calibración y seguimiento de sus propios sensores.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914400" y="2770632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laptop.png" id="227" name="Google Shape;22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1560" y="29077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2"/>
          <p:cNvSpPr txBox="1"/>
          <p:nvPr/>
        </p:nvSpPr>
        <p:spPr>
          <a:xfrm>
            <a:off x="1691640" y="2752344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9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Aprenden haciendo (STEAM)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 txBox="1"/>
          <p:nvPr/>
        </p:nvSpPr>
        <p:spPr>
          <a:xfrm>
            <a:off x="1691640" y="3063240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Ciencias ambientales, análisis de datos y tecnología, con herramientas reales.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914400" y="3758184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flag.png" id="231" name="Google Shape;231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1560" y="389534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2"/>
          <p:cNvSpPr txBox="1"/>
          <p:nvPr/>
        </p:nvSpPr>
        <p:spPr>
          <a:xfrm>
            <a:off x="1691640" y="3739896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9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Ferias y proyectos escolares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 txBox="1"/>
          <p:nvPr/>
        </p:nvSpPr>
        <p:spPr>
          <a:xfrm>
            <a:off x="1691640" y="4050792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Datos propios y locales para trabajos de investigación y ferias de ciencia.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914400" y="4745736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check.png" id="235" name="Google Shape;235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1560" y="48828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2"/>
          <p:cNvSpPr txBox="1"/>
          <p:nvPr/>
        </p:nvSpPr>
        <p:spPr>
          <a:xfrm>
            <a:off x="1691640" y="4727448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9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Responsabilidad ambiental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1691640" y="5038344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Construyen conciencia y pertenencia sobre la calidad del aire de su comunidad.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 txBox="1"/>
          <p:nvPr/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2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ministerio.png" id="246" name="Google Shape;24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3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Una futura aliada: el Ministerio de Ambiente bonaerense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 txBox="1"/>
          <p:nvPr/>
        </p:nvSpPr>
        <p:spPr>
          <a:xfrm>
            <a:off x="914400" y="169164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RED DE REFERENCIA YA EXISTENTE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 txBox="1"/>
          <p:nvPr/>
        </p:nvSpPr>
        <p:spPr>
          <a:xfrm>
            <a:off x="914400" y="2057400"/>
            <a:ext cx="603504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5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Opera estaciones fijas de referencia, alineadas a estándares EPA (Decreto 1074/2018), en </a:t>
            </a:r>
            <a:r>
              <a:rPr lang="en-US" sz="1600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sectores industriales del AMBA</a:t>
            </a:r>
            <a:r>
              <a:rPr b="0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A1D12"/>
              </a:buClr>
              <a:buSzPts val="15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Sumó en 2025 cuatro estaciones nuevas sobre la Cuenca del Río Reconquista, financiadas junto al BID.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A1D12"/>
              </a:buClr>
              <a:buSzPts val="15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Son equipos de referencia, no de bajo costo: complemento que le falta a una red de bajo costo como esta.</a:t>
            </a:r>
            <a:endParaRPr b="0" i="0" sz="1600" u="none" cap="none" strike="noStrike">
              <a:solidFill>
                <a:srgbClr val="2A1D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Datos online del CEMCA: </a:t>
            </a:r>
            <a:r>
              <a:rPr i="1" lang="en-US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https://apps.ambiente.gba.gob.ar/cemca/</a:t>
            </a:r>
            <a:endParaRPr sz="1600">
              <a:solidFill>
                <a:srgbClr val="2A1D1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7360920" y="1691640"/>
            <a:ext cx="4206240" cy="4343400"/>
          </a:xfrm>
          <a:prstGeom prst="roundRect">
            <a:avLst>
              <a:gd fmla="val 2609" name="adj"/>
            </a:avLst>
          </a:prstGeom>
          <a:solidFill>
            <a:srgbClr val="2E28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3"/>
          <p:cNvSpPr txBox="1"/>
          <p:nvPr/>
        </p:nvSpPr>
        <p:spPr>
          <a:xfrm>
            <a:off x="7680960" y="19659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4800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B84800"/>
                </a:solidFill>
                <a:latin typeface="Calibri"/>
                <a:ea typeface="Calibri"/>
                <a:cs typeface="Calibri"/>
                <a:sym typeface="Calibri"/>
              </a:rPr>
              <a:t>LA OPORTUNIDAD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 txBox="1"/>
          <p:nvPr/>
        </p:nvSpPr>
        <p:spPr>
          <a:xfrm>
            <a:off x="7680960" y="224028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DFD6"/>
              </a:buClr>
              <a:buSzPts val="1400"/>
              <a:buFont typeface="Calibri"/>
              <a:buNone/>
            </a:pPr>
            <a:r>
              <a:rPr b="0" i="0" lang="en-US" sz="155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Co-localizar y calibrar en conjunto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 txBox="1"/>
          <p:nvPr/>
        </p:nvSpPr>
        <p:spPr>
          <a:xfrm>
            <a:off x="7680960" y="2926080"/>
            <a:ext cx="35661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mismo esquema que ya conectó a AirGradient con ACUMAR (ver Trayectoria) podría aplicarse acá: contrastar los sensores escolares de </a:t>
            </a: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bajo costo</a:t>
            </a: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contra una estación de referencia provincial.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13"/>
          <p:cNvCxnSpPr/>
          <p:nvPr/>
        </p:nvCxnSpPr>
        <p:spPr>
          <a:xfrm>
            <a:off x="7680960" y="4617720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534A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13"/>
          <p:cNvSpPr txBox="1"/>
          <p:nvPr/>
        </p:nvSpPr>
        <p:spPr>
          <a:xfrm>
            <a:off x="7680960" y="4754880"/>
            <a:ext cx="3566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250"/>
              <a:buFont typeface="Calibri"/>
              <a:buNone/>
            </a:pPr>
            <a:r>
              <a:rPr b="0" i="1" lang="en-US" sz="140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Ganar precisión sin perder el volumen y la cercanía del monitoreo de bajo costo.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 txBox="1"/>
          <p:nvPr/>
        </p:nvSpPr>
        <p:spPr>
          <a:xfrm>
            <a:off x="914400" y="6076442"/>
            <a:ext cx="1033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950"/>
              <a:buFont typeface="Calibri"/>
              <a:buNone/>
            </a:pPr>
            <a:r>
              <a:rPr b="0" i="0" lang="en-US" sz="12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Fuentes: Ministerio de Ambiente de la Provincia de Buenos Aires (</a:t>
            </a:r>
            <a:r>
              <a:rPr lang="en-US" sz="120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2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x-OPDS) · Informe de Gestión 2025.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2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ley.png" id="265" name="Google Shape;2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4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Una aplicación territorial de la Educación Ambiental Integral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 txBox="1"/>
          <p:nvPr/>
        </p:nvSpPr>
        <p:spPr>
          <a:xfrm>
            <a:off x="914400" y="182880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200"/>
              <a:buFont typeface="Calibri"/>
              <a:buNone/>
            </a:pPr>
            <a:r>
              <a:rPr b="1" i="0" lang="en-US" sz="13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LEY 27.621 (2021)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 txBox="1"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0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Establece el derecho a la Educación Ambiental Integral (EAI) como política pública nacional.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914400" y="3017520"/>
            <a:ext cx="10332720" cy="2194560"/>
          </a:xfrm>
          <a:prstGeom prst="roundRect">
            <a:avLst>
              <a:gd fmla="val 5000" name="adj"/>
            </a:avLst>
          </a:prstGeom>
          <a:solidFill>
            <a:srgbClr val="F0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4"/>
          <p:cNvSpPr txBox="1"/>
          <p:nvPr/>
        </p:nvSpPr>
        <p:spPr>
          <a:xfrm>
            <a:off x="1280160" y="3246120"/>
            <a:ext cx="9601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800"/>
              <a:buFont typeface="Calibri"/>
              <a:buNone/>
            </a:pPr>
            <a:r>
              <a:rPr b="0" i="1" lang="en-US" sz="19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Este proyecto no reemplaza la currícula: le da datos reales, propios y locales para trabajarla en el aula. El desarrollo de contenidos específicos y la capacitación docente se definen en conjunto con el equipo de educación.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 txBox="1"/>
          <p:nvPr/>
        </p:nvSpPr>
        <p:spPr>
          <a:xfrm>
            <a:off x="914400" y="5577840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Fuente: Ley 27.621 · Educación Ambiental Integral, DGCyE — Provincia de Buenos Aires.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2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hoja_ruta.png" id="280" name="Google Shape;2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5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Hoja de ruta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15"/>
          <p:cNvCxnSpPr/>
          <p:nvPr/>
        </p:nvCxnSpPr>
        <p:spPr>
          <a:xfrm>
            <a:off x="2148840" y="2697480"/>
            <a:ext cx="8412480" cy="0"/>
          </a:xfrm>
          <a:prstGeom prst="straightConnector1">
            <a:avLst/>
          </a:prstGeom>
          <a:noFill/>
          <a:ln cap="flat" cmpd="sng" w="25400">
            <a:solidFill>
              <a:srgbClr val="DDD2C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3" name="Google Shape;283;p15"/>
          <p:cNvSpPr/>
          <p:nvPr/>
        </p:nvSpPr>
        <p:spPr>
          <a:xfrm>
            <a:off x="1828800" y="2377440"/>
            <a:ext cx="640080" cy="640080"/>
          </a:xfrm>
          <a:prstGeom prst="ellipse">
            <a:avLst/>
          </a:prstGeom>
          <a:solidFill>
            <a:srgbClr val="B84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5"/>
          <p:cNvSpPr txBox="1"/>
          <p:nvPr/>
        </p:nvSpPr>
        <p:spPr>
          <a:xfrm>
            <a:off x="1828800" y="2377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 txBox="1"/>
          <p:nvPr/>
        </p:nvSpPr>
        <p:spPr>
          <a:xfrm>
            <a:off x="320040" y="3246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EN MARCHA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 txBox="1"/>
          <p:nvPr/>
        </p:nvSpPr>
        <p:spPr>
          <a:xfrm>
            <a:off x="320040" y="354787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Sensores en escuelas piloto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 txBox="1"/>
          <p:nvPr/>
        </p:nvSpPr>
        <p:spPr>
          <a:xfrm>
            <a:off x="320040" y="4023360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50"/>
              <a:buFont typeface="Calibri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Primeros equipos instalados o a instalar; datos ya visibles y en vivo en el portal aq.lemeit.ar.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6035040" y="2377440"/>
            <a:ext cx="640080" cy="64008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5"/>
          <p:cNvSpPr txBox="1"/>
          <p:nvPr/>
        </p:nvSpPr>
        <p:spPr>
          <a:xfrm>
            <a:off x="6035040" y="2377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 txBox="1"/>
          <p:nvPr/>
        </p:nvSpPr>
        <p:spPr>
          <a:xfrm>
            <a:off x="4526280" y="3246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PRÓXIMO PASO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 txBox="1"/>
          <p:nvPr/>
        </p:nvSpPr>
        <p:spPr>
          <a:xfrm>
            <a:off x="4526280" y="354787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Talleres con estudiantes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 txBox="1"/>
          <p:nvPr/>
        </p:nvSpPr>
        <p:spPr>
          <a:xfrm>
            <a:off x="4526280" y="4023360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50"/>
              <a:buFont typeface="Calibri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Armado y monitoreo participativo, en convenio con escuelas y universidades.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9991898" y="2377440"/>
            <a:ext cx="640200" cy="64020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5"/>
          <p:cNvSpPr txBox="1"/>
          <p:nvPr/>
        </p:nvSpPr>
        <p:spPr>
          <a:xfrm>
            <a:off x="10004367" y="237744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 txBox="1"/>
          <p:nvPr/>
        </p:nvSpPr>
        <p:spPr>
          <a:xfrm>
            <a:off x="8495607" y="324612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META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8483138" y="354787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Expansión distrital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8483138" y="4023360"/>
            <a:ext cx="3657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50"/>
              <a:buFont typeface="Calibri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Sumar escuelas de todos los niveles e impulsar una ordenanza municipal de aire limpio.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2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05" name="Google Shape;3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6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Un vacío de monitoreo en el centro de la provincia</a:t>
            </a:r>
            <a:endParaRPr/>
          </a:p>
        </p:txBody>
      </p:sp>
      <p:sp>
        <p:nvSpPr>
          <p:cNvPr id="307" name="Google Shape;307;p16"/>
          <p:cNvSpPr txBox="1"/>
          <p:nvPr/>
        </p:nvSpPr>
        <p:spPr>
          <a:xfrm>
            <a:off x="914400" y="1417326"/>
            <a:ext cx="103632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Organizaciones como OpenAQ y EPIC (Universidad de Chicago) señalan que buena parte del mundo no produce datos públicos de calidad del aire — y el centro de la provincia de Buenos Aires es un caso de </a:t>
            </a:r>
            <a:r>
              <a:rPr lang="en-US" sz="14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donde se evidencia este “hueco” de información</a:t>
            </a:r>
            <a:r>
              <a:rPr b="0" i="0" lang="en-US" sz="14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308" name="Google Shape;308;p16"/>
          <p:cNvSpPr/>
          <p:nvPr/>
        </p:nvSpPr>
        <p:spPr>
          <a:xfrm>
            <a:off x="914400" y="1966280"/>
            <a:ext cx="3332480" cy="2236194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rpleair_final.png" id="309" name="Google Shape;30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840" y="2057720"/>
            <a:ext cx="3149600" cy="1458954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6"/>
          <p:cNvSpPr txBox="1"/>
          <p:nvPr/>
        </p:nvSpPr>
        <p:spPr>
          <a:xfrm>
            <a:off x="1005850" y="3608127"/>
            <a:ext cx="31497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PurpleAir (red ciudadana): cientos de sensores en Brasil, Paraguay y Chile — casi nada en Argentina</a:t>
            </a:r>
            <a:endParaRPr/>
          </a:p>
        </p:txBody>
      </p:sp>
      <p:sp>
        <p:nvSpPr>
          <p:cNvPr id="311" name="Google Shape;311;p16"/>
          <p:cNvSpPr/>
          <p:nvPr/>
        </p:nvSpPr>
        <p:spPr>
          <a:xfrm>
            <a:off x="4429760" y="1966280"/>
            <a:ext cx="3332480" cy="2253339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penaq_country_final.png" id="312" name="Google Shape;31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21200" y="2057720"/>
            <a:ext cx="3149600" cy="147609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6"/>
          <p:cNvSpPr txBox="1"/>
          <p:nvPr/>
        </p:nvSpPr>
        <p:spPr>
          <a:xfrm>
            <a:off x="4521200" y="3625248"/>
            <a:ext cx="31497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OpenAQ (red oficial agregada): mismo patrón — Chile con estaciones, Argentina casi vacía</a:t>
            </a:r>
            <a:endParaRPr/>
          </a:p>
        </p:txBody>
      </p:sp>
      <p:sp>
        <p:nvSpPr>
          <p:cNvPr id="314" name="Google Shape;314;p16"/>
          <p:cNvSpPr/>
          <p:nvPr/>
        </p:nvSpPr>
        <p:spPr>
          <a:xfrm>
            <a:off x="7945120" y="1966280"/>
            <a:ext cx="3332480" cy="2253339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penaq_local_final.png" id="315" name="Google Shape;31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6560" y="2057720"/>
            <a:ext cx="3149600" cy="1476099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6"/>
          <p:cNvSpPr txBox="1"/>
          <p:nvPr/>
        </p:nvSpPr>
        <p:spPr>
          <a:xfrm>
            <a:off x="8036560" y="3625259"/>
            <a:ext cx="3149700" cy="5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Alrededor de Saladillo y 25 de Mayo: solo dos puntos en el mapa</a:t>
            </a:r>
            <a:endParaRPr/>
          </a:p>
        </p:txBody>
      </p:sp>
      <p:sp>
        <p:nvSpPr>
          <p:cNvPr id="317" name="Google Shape;317;p16"/>
          <p:cNvSpPr/>
          <p:nvPr/>
        </p:nvSpPr>
        <p:spPr>
          <a:xfrm>
            <a:off x="914400" y="4402500"/>
            <a:ext cx="10363200" cy="147600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6"/>
          <p:cNvSpPr txBox="1"/>
          <p:nvPr/>
        </p:nvSpPr>
        <p:spPr>
          <a:xfrm>
            <a:off x="1188720" y="4539659"/>
            <a:ext cx="98145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“La contaminación por material particulado fino (PM2.5) es uno de los mayores riesgos externos para la salud humana — y sin embargo sigue gravemente sub-monitoreada, sobre todo en las regiones con más contaminación y menos datos.”</a:t>
            </a:r>
            <a:endParaRPr sz="1600"/>
          </a:p>
        </p:txBody>
      </p:sp>
      <p:sp>
        <p:nvSpPr>
          <p:cNvPr id="319" name="Google Shape;319;p16"/>
          <p:cNvSpPr txBox="1"/>
          <p:nvPr/>
        </p:nvSpPr>
        <p:spPr>
          <a:xfrm>
            <a:off x="1188720" y="5402520"/>
            <a:ext cx="981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— C. Hasenkopf et al., Energy Policy Institute at the University of Chicago (EPIC), 2023</a:t>
            </a:r>
            <a:endParaRPr/>
          </a:p>
        </p:txBody>
      </p:sp>
      <p:sp>
        <p:nvSpPr>
          <p:cNvPr id="320" name="Google Shape;320;p16"/>
          <p:cNvSpPr txBox="1"/>
          <p:nvPr/>
        </p:nvSpPr>
        <p:spPr>
          <a:xfrm>
            <a:off x="548640" y="6400800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/>
          </a:p>
        </p:txBody>
      </p:sp>
      <p:sp>
        <p:nvSpPr>
          <p:cNvPr id="321" name="Google Shape;321;p16"/>
          <p:cNvSpPr txBox="1"/>
          <p:nvPr/>
        </p:nvSpPr>
        <p:spPr>
          <a:xfrm>
            <a:off x="11457432" y="6400800"/>
            <a:ext cx="457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2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27" name="Google Shape;3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7"/>
          <p:cNvSpPr txBox="1"/>
          <p:nvPr/>
        </p:nvSpPr>
        <p:spPr>
          <a:xfrm>
            <a:off x="1325880" y="457200"/>
            <a:ext cx="1024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Próxima etapa: </a:t>
            </a:r>
            <a:r>
              <a:rPr b="1" lang="en-US" sz="2600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 escuelas confirmadas + 1 en ejecución</a:t>
            </a:r>
            <a:endParaRPr/>
          </a:p>
        </p:txBody>
      </p:sp>
      <p:sp>
        <p:nvSpPr>
          <p:cNvPr id="329" name="Google Shape;329;p17"/>
          <p:cNvSpPr txBox="1"/>
          <p:nvPr/>
        </p:nvSpPr>
        <p:spPr>
          <a:xfrm>
            <a:off x="914400" y="1417320"/>
            <a:ext cx="1036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Saladillo (3) y 25 de Mayo (2) — primera expansión de la red fuera de Saladillo.</a:t>
            </a:r>
            <a:endParaRPr/>
          </a:p>
        </p:txBody>
      </p:sp>
      <p:sp>
        <p:nvSpPr>
          <p:cNvPr id="330" name="Google Shape;330;p17"/>
          <p:cNvSpPr txBox="1"/>
          <p:nvPr/>
        </p:nvSpPr>
        <p:spPr>
          <a:xfrm>
            <a:off x="914400" y="2011680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INSTITUCIÓN</a:t>
            </a:r>
            <a:endParaRPr/>
          </a:p>
        </p:txBody>
      </p:sp>
      <p:sp>
        <p:nvSpPr>
          <p:cNvPr id="331" name="Google Shape;331;p17"/>
          <p:cNvSpPr txBox="1"/>
          <p:nvPr/>
        </p:nvSpPr>
        <p:spPr>
          <a:xfrm>
            <a:off x="5715000" y="201168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DISTRITO</a:t>
            </a:r>
            <a:endParaRPr/>
          </a:p>
        </p:txBody>
      </p:sp>
      <p:sp>
        <p:nvSpPr>
          <p:cNvPr id="332" name="Google Shape;332;p17"/>
          <p:cNvSpPr txBox="1"/>
          <p:nvPr/>
        </p:nvSpPr>
        <p:spPr>
          <a:xfrm>
            <a:off x="7315200" y="201168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ZONA</a:t>
            </a:r>
            <a:endParaRPr/>
          </a:p>
        </p:txBody>
      </p:sp>
      <p:sp>
        <p:nvSpPr>
          <p:cNvPr id="333" name="Google Shape;333;p17"/>
          <p:cNvSpPr txBox="1"/>
          <p:nvPr/>
        </p:nvSpPr>
        <p:spPr>
          <a:xfrm>
            <a:off x="8595360" y="2011680"/>
            <a:ext cx="2865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DIRECCIÓN</a:t>
            </a:r>
            <a:endParaRPr/>
          </a:p>
        </p:txBody>
      </p:sp>
      <p:sp>
        <p:nvSpPr>
          <p:cNvPr id="334" name="Google Shape;334;p17"/>
          <p:cNvSpPr/>
          <p:nvPr/>
        </p:nvSpPr>
        <p:spPr>
          <a:xfrm>
            <a:off x="914400" y="2423160"/>
            <a:ext cx="10546080" cy="6400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7"/>
          <p:cNvSpPr txBox="1"/>
          <p:nvPr/>
        </p:nvSpPr>
        <p:spPr>
          <a:xfrm>
            <a:off x="1051685" y="2589310"/>
            <a:ext cx="461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1" lang="en-US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sc. de </a:t>
            </a:r>
            <a:r>
              <a:rPr b="1" lang="en-US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Educación</a:t>
            </a:r>
            <a:r>
              <a:rPr b="1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 S</a:t>
            </a:r>
            <a:r>
              <a:rPr b="1" lang="en-US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ecundaria</a:t>
            </a:r>
            <a:r>
              <a:rPr b="1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 N°2 "Manuel Pardal"</a:t>
            </a:r>
            <a:endParaRPr/>
          </a:p>
        </p:txBody>
      </p:sp>
      <p:sp>
        <p:nvSpPr>
          <p:cNvPr id="336" name="Google Shape;336;p17"/>
          <p:cNvSpPr txBox="1"/>
          <p:nvPr/>
        </p:nvSpPr>
        <p:spPr>
          <a:xfrm>
            <a:off x="5852160" y="242316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Saladillo</a:t>
            </a:r>
            <a:endParaRPr/>
          </a:p>
        </p:txBody>
      </p:sp>
      <p:sp>
        <p:nvSpPr>
          <p:cNvPr id="337" name="Google Shape;337;p17"/>
          <p:cNvSpPr txBox="1"/>
          <p:nvPr/>
        </p:nvSpPr>
        <p:spPr>
          <a:xfrm>
            <a:off x="7452360" y="242316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Urbana</a:t>
            </a:r>
            <a:endParaRPr/>
          </a:p>
        </p:txBody>
      </p:sp>
      <p:sp>
        <p:nvSpPr>
          <p:cNvPr id="338" name="Google Shape;338;p17"/>
          <p:cNvSpPr txBox="1"/>
          <p:nvPr/>
        </p:nvSpPr>
        <p:spPr>
          <a:xfrm>
            <a:off x="8732520" y="2589310"/>
            <a:ext cx="268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Av. Pereyra 3046</a:t>
            </a:r>
            <a:endParaRPr/>
          </a:p>
        </p:txBody>
      </p:sp>
      <p:sp>
        <p:nvSpPr>
          <p:cNvPr id="339" name="Google Shape;339;p17"/>
          <p:cNvSpPr/>
          <p:nvPr/>
        </p:nvSpPr>
        <p:spPr>
          <a:xfrm>
            <a:off x="914400" y="3154680"/>
            <a:ext cx="10546080" cy="6400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7"/>
          <p:cNvSpPr txBox="1"/>
          <p:nvPr/>
        </p:nvSpPr>
        <p:spPr>
          <a:xfrm>
            <a:off x="1051560" y="3154680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Instituto Niño Jesús</a:t>
            </a:r>
            <a:endParaRPr/>
          </a:p>
        </p:txBody>
      </p:sp>
      <p:sp>
        <p:nvSpPr>
          <p:cNvPr id="341" name="Google Shape;341;p17"/>
          <p:cNvSpPr txBox="1"/>
          <p:nvPr/>
        </p:nvSpPr>
        <p:spPr>
          <a:xfrm>
            <a:off x="5852160" y="315468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Saladillo</a:t>
            </a:r>
            <a:endParaRPr/>
          </a:p>
        </p:txBody>
      </p:sp>
      <p:sp>
        <p:nvSpPr>
          <p:cNvPr id="342" name="Google Shape;342;p17"/>
          <p:cNvSpPr txBox="1"/>
          <p:nvPr/>
        </p:nvSpPr>
        <p:spPr>
          <a:xfrm>
            <a:off x="7452360" y="315468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Urbana</a:t>
            </a:r>
            <a:endParaRPr/>
          </a:p>
        </p:txBody>
      </p:sp>
      <p:sp>
        <p:nvSpPr>
          <p:cNvPr id="343" name="Google Shape;343;p17"/>
          <p:cNvSpPr txBox="1"/>
          <p:nvPr/>
        </p:nvSpPr>
        <p:spPr>
          <a:xfrm>
            <a:off x="8732520" y="3154680"/>
            <a:ext cx="2682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Av. Belgrano 2999</a:t>
            </a:r>
            <a:endParaRPr/>
          </a:p>
        </p:txBody>
      </p:sp>
      <p:sp>
        <p:nvSpPr>
          <p:cNvPr id="344" name="Google Shape;344;p17"/>
          <p:cNvSpPr/>
          <p:nvPr/>
        </p:nvSpPr>
        <p:spPr>
          <a:xfrm>
            <a:off x="914400" y="3886200"/>
            <a:ext cx="10546080" cy="6400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7"/>
          <p:cNvSpPr txBox="1"/>
          <p:nvPr/>
        </p:nvSpPr>
        <p:spPr>
          <a:xfrm>
            <a:off x="1051560" y="3886200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Colegio Secundario Madre Teresa</a:t>
            </a:r>
            <a:endParaRPr/>
          </a:p>
        </p:txBody>
      </p:sp>
      <p:sp>
        <p:nvSpPr>
          <p:cNvPr id="346" name="Google Shape;346;p17"/>
          <p:cNvSpPr txBox="1"/>
          <p:nvPr/>
        </p:nvSpPr>
        <p:spPr>
          <a:xfrm>
            <a:off x="5852160" y="388620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Saladillo</a:t>
            </a:r>
            <a:endParaRPr/>
          </a:p>
        </p:txBody>
      </p:sp>
      <p:sp>
        <p:nvSpPr>
          <p:cNvPr id="347" name="Google Shape;347;p17"/>
          <p:cNvSpPr txBox="1"/>
          <p:nvPr/>
        </p:nvSpPr>
        <p:spPr>
          <a:xfrm>
            <a:off x="7452360" y="388620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D9691F"/>
                </a:solidFill>
                <a:latin typeface="Calibri"/>
                <a:ea typeface="Calibri"/>
                <a:cs typeface="Calibri"/>
                <a:sym typeface="Calibri"/>
              </a:rPr>
              <a:t>Rural</a:t>
            </a:r>
            <a:endParaRPr/>
          </a:p>
        </p:txBody>
      </p:sp>
      <p:sp>
        <p:nvSpPr>
          <p:cNvPr id="348" name="Google Shape;348;p17"/>
          <p:cNvSpPr txBox="1"/>
          <p:nvPr/>
        </p:nvSpPr>
        <p:spPr>
          <a:xfrm>
            <a:off x="8732520" y="3886200"/>
            <a:ext cx="2682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Calle Jauretche e Yrigoyen</a:t>
            </a: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914400" y="4617720"/>
            <a:ext cx="10546080" cy="6400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7"/>
          <p:cNvSpPr txBox="1"/>
          <p:nvPr/>
        </p:nvSpPr>
        <p:spPr>
          <a:xfrm>
            <a:off x="1051560" y="4617720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Esc. de Educación Artística N°1 "Lola Mora"</a:t>
            </a:r>
            <a:endParaRPr/>
          </a:p>
        </p:txBody>
      </p:sp>
      <p:sp>
        <p:nvSpPr>
          <p:cNvPr id="351" name="Google Shape;351;p17"/>
          <p:cNvSpPr txBox="1"/>
          <p:nvPr/>
        </p:nvSpPr>
        <p:spPr>
          <a:xfrm>
            <a:off x="5852160" y="461772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25 de Mayo</a:t>
            </a:r>
            <a:endParaRPr/>
          </a:p>
        </p:txBody>
      </p:sp>
      <p:sp>
        <p:nvSpPr>
          <p:cNvPr id="352" name="Google Shape;352;p17"/>
          <p:cNvSpPr txBox="1"/>
          <p:nvPr/>
        </p:nvSpPr>
        <p:spPr>
          <a:xfrm>
            <a:off x="7452360" y="461772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Urbana</a:t>
            </a:r>
            <a:endParaRPr/>
          </a:p>
        </p:txBody>
      </p:sp>
      <p:sp>
        <p:nvSpPr>
          <p:cNvPr id="353" name="Google Shape;353;p17"/>
          <p:cNvSpPr txBox="1"/>
          <p:nvPr/>
        </p:nvSpPr>
        <p:spPr>
          <a:xfrm>
            <a:off x="8732520" y="4617720"/>
            <a:ext cx="2682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Calle 7 entre 23 y 24</a:t>
            </a:r>
            <a:endParaRPr/>
          </a:p>
        </p:txBody>
      </p:sp>
      <p:sp>
        <p:nvSpPr>
          <p:cNvPr id="354" name="Google Shape;354;p17"/>
          <p:cNvSpPr/>
          <p:nvPr/>
        </p:nvSpPr>
        <p:spPr>
          <a:xfrm>
            <a:off x="914400" y="5349240"/>
            <a:ext cx="10546080" cy="6400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7"/>
          <p:cNvSpPr txBox="1"/>
          <p:nvPr/>
        </p:nvSpPr>
        <p:spPr>
          <a:xfrm>
            <a:off x="1051560" y="5349240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Esc. Agraria C.M. Casares (EAS Del Valle)</a:t>
            </a:r>
            <a:endParaRPr/>
          </a:p>
        </p:txBody>
      </p:sp>
      <p:sp>
        <p:nvSpPr>
          <p:cNvPr id="356" name="Google Shape;356;p17"/>
          <p:cNvSpPr txBox="1"/>
          <p:nvPr/>
        </p:nvSpPr>
        <p:spPr>
          <a:xfrm>
            <a:off x="5852160" y="534924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25 de Mayo</a:t>
            </a:r>
            <a:endParaRPr/>
          </a:p>
        </p:txBody>
      </p:sp>
      <p:sp>
        <p:nvSpPr>
          <p:cNvPr id="357" name="Google Shape;357;p17"/>
          <p:cNvSpPr txBox="1"/>
          <p:nvPr/>
        </p:nvSpPr>
        <p:spPr>
          <a:xfrm>
            <a:off x="7452360" y="534924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D9691F"/>
                </a:solidFill>
                <a:latin typeface="Calibri"/>
                <a:ea typeface="Calibri"/>
                <a:cs typeface="Calibri"/>
                <a:sym typeface="Calibri"/>
              </a:rPr>
              <a:t>Rural</a:t>
            </a:r>
            <a:endParaRPr/>
          </a:p>
        </p:txBody>
      </p:sp>
      <p:sp>
        <p:nvSpPr>
          <p:cNvPr id="358" name="Google Shape;358;p17"/>
          <p:cNvSpPr txBox="1"/>
          <p:nvPr/>
        </p:nvSpPr>
        <p:spPr>
          <a:xfrm>
            <a:off x="8732520" y="5349240"/>
            <a:ext cx="2682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Zona rural, Del Valle</a:t>
            </a:r>
            <a:endParaRPr/>
          </a:p>
        </p:txBody>
      </p:sp>
      <p:sp>
        <p:nvSpPr>
          <p:cNvPr id="359" name="Google Shape;359;p17"/>
          <p:cNvSpPr txBox="1"/>
          <p:nvPr/>
        </p:nvSpPr>
        <p:spPr>
          <a:xfrm>
            <a:off x="548640" y="6400800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/>
          </a:p>
        </p:txBody>
      </p:sp>
      <p:sp>
        <p:nvSpPr>
          <p:cNvPr id="360" name="Google Shape;360;p17"/>
          <p:cNvSpPr txBox="1"/>
          <p:nvPr/>
        </p:nvSpPr>
        <p:spPr>
          <a:xfrm>
            <a:off x="11457432" y="6400800"/>
            <a:ext cx="457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2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8"/>
          <p:cNvSpPr/>
          <p:nvPr/>
        </p:nvSpPr>
        <p:spPr>
          <a:xfrm>
            <a:off x="548640" y="502920"/>
            <a:ext cx="567000" cy="56700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66" name="Google Shape;3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8"/>
          <p:cNvSpPr txBox="1"/>
          <p:nvPr/>
        </p:nvSpPr>
        <p:spPr>
          <a:xfrm>
            <a:off x="1325880" y="457200"/>
            <a:ext cx="1024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Dónde están las 5 escuelas</a:t>
            </a:r>
            <a:endParaRPr/>
          </a:p>
        </p:txBody>
      </p:sp>
      <p:pic>
        <p:nvPicPr>
          <p:cNvPr id="371" name="Picture 370" descr="mapa_escuelas_v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1124" y="1069926"/>
            <a:ext cx="7630914" cy="4964526"/>
          </a:xfrm>
          <a:prstGeom prst="rect">
            <a:avLst/>
          </a:prstGeom>
        </p:spPr>
      </p:pic>
      <p:sp>
        <p:nvSpPr>
          <p:cNvPr id="369" name="Google Shape;369;p18"/>
          <p:cNvSpPr txBox="1"/>
          <p:nvPr/>
        </p:nvSpPr>
        <p:spPr>
          <a:xfrm>
            <a:off x="548640" y="6400800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/>
          </a:p>
        </p:txBody>
      </p:sp>
      <p:sp>
        <p:nvSpPr>
          <p:cNvPr id="370" name="Google Shape;370;p18"/>
          <p:cNvSpPr txBox="1"/>
          <p:nvPr/>
        </p:nvSpPr>
        <p:spPr>
          <a:xfrm>
            <a:off x="11457432" y="6400800"/>
            <a:ext cx="457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2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9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76" name="Google Shape;3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9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Qué necesitamos de cada institución</a:t>
            </a:r>
            <a:endParaRPr/>
          </a:p>
        </p:txBody>
      </p:sp>
      <p:sp>
        <p:nvSpPr>
          <p:cNvPr id="378" name="Google Shape;378;p19"/>
          <p:cNvSpPr/>
          <p:nvPr/>
        </p:nvSpPr>
        <p:spPr>
          <a:xfrm>
            <a:off x="914400" y="1874520"/>
            <a:ext cx="4724400" cy="20116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9"/>
          <p:cNvSpPr txBox="1"/>
          <p:nvPr/>
        </p:nvSpPr>
        <p:spPr>
          <a:xfrm>
            <a:off x="1143000" y="2103120"/>
            <a:ext cx="426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Un lugar para el sensor</a:t>
            </a:r>
            <a:endParaRPr/>
          </a:p>
        </p:txBody>
      </p:sp>
      <p:sp>
        <p:nvSpPr>
          <p:cNvPr id="380" name="Google Shape;380;p19"/>
          <p:cNvSpPr txBox="1"/>
          <p:nvPr/>
        </p:nvSpPr>
        <p:spPr>
          <a:xfrm>
            <a:off x="1143000" y="2560320"/>
            <a:ext cx="4267200" cy="11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Un punto exterior, con buena exposición al aire y protegido de lluvia directa — sobre un muro</a:t>
            </a:r>
            <a:r>
              <a:rPr lang="en-US" sz="15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5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 baranda</a:t>
            </a:r>
            <a:r>
              <a:rPr lang="en-US" sz="15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 o sector </a:t>
            </a:r>
            <a:r>
              <a:rPr lang="en-US" sz="15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semi cubierto</a:t>
            </a:r>
            <a:r>
              <a:rPr b="0" i="0" lang="en-US" sz="15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 a 2 - 3 m de altura aprox.</a:t>
            </a:r>
            <a:endParaRPr sz="1600"/>
          </a:p>
        </p:txBody>
      </p:sp>
      <p:sp>
        <p:nvSpPr>
          <p:cNvPr id="381" name="Google Shape;381;p19"/>
          <p:cNvSpPr/>
          <p:nvPr/>
        </p:nvSpPr>
        <p:spPr>
          <a:xfrm>
            <a:off x="6553200" y="1874520"/>
            <a:ext cx="4724400" cy="20116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9"/>
          <p:cNvSpPr txBox="1"/>
          <p:nvPr/>
        </p:nvSpPr>
        <p:spPr>
          <a:xfrm>
            <a:off x="6781800" y="2103120"/>
            <a:ext cx="426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Energía cerca del punto</a:t>
            </a:r>
            <a:endParaRPr/>
          </a:p>
        </p:txBody>
      </p:sp>
      <p:sp>
        <p:nvSpPr>
          <p:cNvPr id="383" name="Google Shape;383;p19"/>
          <p:cNvSpPr txBox="1"/>
          <p:nvPr/>
        </p:nvSpPr>
        <p:spPr>
          <a:xfrm>
            <a:off x="6781800" y="2560320"/>
            <a:ext cx="4267200" cy="11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Un </a:t>
            </a:r>
            <a:r>
              <a:rPr lang="en-US" sz="15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tomacorriente (220 V)</a:t>
            </a:r>
            <a:r>
              <a:rPr b="0" i="0" lang="en-US" sz="15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 o caja de c</a:t>
            </a:r>
            <a:r>
              <a:rPr lang="en-US" sz="15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onexión </a:t>
            </a:r>
            <a:r>
              <a:rPr b="0" i="0" lang="en-US" sz="15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al alcance del cable (o cerca, para extender). El sensor consume muy poco — similar a un router hogareño.</a:t>
            </a:r>
            <a:endParaRPr sz="1600"/>
          </a:p>
        </p:txBody>
      </p:sp>
      <p:sp>
        <p:nvSpPr>
          <p:cNvPr id="384" name="Google Shape;384;p19"/>
          <p:cNvSpPr/>
          <p:nvPr/>
        </p:nvSpPr>
        <p:spPr>
          <a:xfrm>
            <a:off x="914400" y="4114800"/>
            <a:ext cx="4724400" cy="20116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9"/>
          <p:cNvSpPr txBox="1"/>
          <p:nvPr/>
        </p:nvSpPr>
        <p:spPr>
          <a:xfrm>
            <a:off x="1143000" y="4343400"/>
            <a:ext cx="426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WiFi</a:t>
            </a:r>
            <a:endParaRPr/>
          </a:p>
        </p:txBody>
      </p:sp>
      <p:sp>
        <p:nvSpPr>
          <p:cNvPr id="386" name="Google Shape;386;p19"/>
          <p:cNvSpPr txBox="1"/>
          <p:nvPr/>
        </p:nvSpPr>
        <p:spPr>
          <a:xfrm>
            <a:off x="1143000" y="4800600"/>
            <a:ext cx="4267200" cy="11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Acceso a la red WiFi de la institución. Preferentemente una red dedicada </a:t>
            </a:r>
            <a:r>
              <a:rPr lang="en-US" sz="15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0" lang="en-US" sz="15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SSID propio) o contar con una red que no cambie con frecuencia s</a:t>
            </a:r>
            <a:r>
              <a:rPr lang="en-US" sz="15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u configuración.</a:t>
            </a:r>
            <a:endParaRPr sz="1600"/>
          </a:p>
        </p:txBody>
      </p:sp>
      <p:sp>
        <p:nvSpPr>
          <p:cNvPr id="387" name="Google Shape;387;p19"/>
          <p:cNvSpPr/>
          <p:nvPr/>
        </p:nvSpPr>
        <p:spPr>
          <a:xfrm>
            <a:off x="6553200" y="4114800"/>
            <a:ext cx="4724400" cy="20116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9"/>
          <p:cNvSpPr txBox="1"/>
          <p:nvPr/>
        </p:nvSpPr>
        <p:spPr>
          <a:xfrm>
            <a:off x="6781800" y="4343400"/>
            <a:ext cx="426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Un referente de contacto</a:t>
            </a:r>
            <a:endParaRPr/>
          </a:p>
        </p:txBody>
      </p:sp>
      <p:sp>
        <p:nvSpPr>
          <p:cNvPr id="389" name="Google Shape;389;p19"/>
          <p:cNvSpPr txBox="1"/>
          <p:nvPr/>
        </p:nvSpPr>
        <p:spPr>
          <a:xfrm>
            <a:off x="6781800" y="4800600"/>
            <a:ext cx="42672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Alguien del equipo directivo o docente </a:t>
            </a:r>
            <a:r>
              <a:rPr lang="en-US" sz="13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 sea el enlace del proyecto en la escuela.</a:t>
            </a:r>
            <a:endParaRPr/>
          </a:p>
        </p:txBody>
      </p:sp>
      <p:sp>
        <p:nvSpPr>
          <p:cNvPr id="390" name="Google Shape;390;p19"/>
          <p:cNvSpPr txBox="1"/>
          <p:nvPr/>
        </p:nvSpPr>
        <p:spPr>
          <a:xfrm>
            <a:off x="548640" y="6400800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/>
          </a:p>
        </p:txBody>
      </p:sp>
      <p:sp>
        <p:nvSpPr>
          <p:cNvPr id="391" name="Google Shape;391;p19"/>
          <p:cNvSpPr txBox="1"/>
          <p:nvPr/>
        </p:nvSpPr>
        <p:spPr>
          <a:xfrm>
            <a:off x="11457432" y="6400800"/>
            <a:ext cx="457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2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97" name="Google Shape;3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0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Cronograma — próximos pasos</a:t>
            </a:r>
            <a:endParaRPr/>
          </a:p>
        </p:txBody>
      </p:sp>
      <p:sp>
        <p:nvSpPr>
          <p:cNvPr id="399" name="Google Shape;399;p20"/>
          <p:cNvSpPr/>
          <p:nvPr/>
        </p:nvSpPr>
        <p:spPr>
          <a:xfrm>
            <a:off x="640080" y="2377440"/>
            <a:ext cx="640080" cy="640080"/>
          </a:xfrm>
          <a:prstGeom prst="ellipse">
            <a:avLst/>
          </a:prstGeom>
          <a:solidFill>
            <a:srgbClr val="B848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00" name="Google Shape;400;p20"/>
          <p:cNvSpPr txBox="1"/>
          <p:nvPr/>
        </p:nvSpPr>
        <p:spPr>
          <a:xfrm>
            <a:off x="640080" y="3108960"/>
            <a:ext cx="26250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16 SEP</a:t>
            </a:r>
            <a:endParaRPr/>
          </a:p>
        </p:txBody>
      </p:sp>
      <p:sp>
        <p:nvSpPr>
          <p:cNvPr id="401" name="Google Shape;401;p20"/>
          <p:cNvSpPr txBox="1"/>
          <p:nvPr/>
        </p:nvSpPr>
        <p:spPr>
          <a:xfrm>
            <a:off x="640080" y="3410712"/>
            <a:ext cx="26250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Reunión con equipos directivos</a:t>
            </a:r>
            <a:endParaRPr/>
          </a:p>
        </p:txBody>
      </p:sp>
      <p:sp>
        <p:nvSpPr>
          <p:cNvPr id="402" name="Google Shape;402;p20"/>
          <p:cNvSpPr txBox="1"/>
          <p:nvPr/>
        </p:nvSpPr>
        <p:spPr>
          <a:xfrm>
            <a:off x="640080" y="4041358"/>
            <a:ext cx="26250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Coordinación institucional: presentación del proyecto y definición de un referente por escuela.</a:t>
            </a:r>
            <a:endParaRPr/>
          </a:p>
        </p:txBody>
      </p:sp>
      <p:sp>
        <p:nvSpPr>
          <p:cNvPr id="403" name="Google Shape;403;p20"/>
          <p:cNvSpPr/>
          <p:nvPr/>
        </p:nvSpPr>
        <p:spPr>
          <a:xfrm>
            <a:off x="3402330" y="2377440"/>
            <a:ext cx="640080" cy="640080"/>
          </a:xfrm>
          <a:prstGeom prst="ellipse">
            <a:avLst/>
          </a:prstGeom>
          <a:solidFill>
            <a:srgbClr val="B848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04" name="Google Shape;404;p20"/>
          <p:cNvSpPr txBox="1"/>
          <p:nvPr/>
        </p:nvSpPr>
        <p:spPr>
          <a:xfrm>
            <a:off x="3402330" y="3108960"/>
            <a:ext cx="26250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PRÓXIMAS SEMANAS</a:t>
            </a:r>
            <a:endParaRPr/>
          </a:p>
        </p:txBody>
      </p:sp>
      <p:sp>
        <p:nvSpPr>
          <p:cNvPr id="405" name="Google Shape;405;p20"/>
          <p:cNvSpPr txBox="1"/>
          <p:nvPr/>
        </p:nvSpPr>
        <p:spPr>
          <a:xfrm>
            <a:off x="3402330" y="3410712"/>
            <a:ext cx="26250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Relevamiento en sitio</a:t>
            </a:r>
            <a:endParaRPr/>
          </a:p>
        </p:txBody>
      </p:sp>
      <p:sp>
        <p:nvSpPr>
          <p:cNvPr id="406" name="Google Shape;406;p20"/>
          <p:cNvSpPr txBox="1"/>
          <p:nvPr/>
        </p:nvSpPr>
        <p:spPr>
          <a:xfrm>
            <a:off x="3402330" y="4041358"/>
            <a:ext cx="26250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Visita a cada institución para definir el punto exacto de instalación.</a:t>
            </a:r>
            <a:endParaRPr/>
          </a:p>
        </p:txBody>
      </p:sp>
      <p:sp>
        <p:nvSpPr>
          <p:cNvPr id="407" name="Google Shape;407;p20"/>
          <p:cNvSpPr/>
          <p:nvPr/>
        </p:nvSpPr>
        <p:spPr>
          <a:xfrm>
            <a:off x="6164580" y="2377440"/>
            <a:ext cx="640080" cy="640080"/>
          </a:xfrm>
          <a:prstGeom prst="ellipse">
            <a:avLst/>
          </a:prstGeom>
          <a:solidFill>
            <a:srgbClr val="B848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08" name="Google Shape;408;p20"/>
          <p:cNvSpPr txBox="1"/>
          <p:nvPr/>
        </p:nvSpPr>
        <p:spPr>
          <a:xfrm>
            <a:off x="6164580" y="3108960"/>
            <a:ext cx="26250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TRAS EL RELEVAMIENTO</a:t>
            </a:r>
            <a:endParaRPr/>
          </a:p>
        </p:txBody>
      </p:sp>
      <p:sp>
        <p:nvSpPr>
          <p:cNvPr id="409" name="Google Shape;409;p20"/>
          <p:cNvSpPr txBox="1"/>
          <p:nvPr/>
        </p:nvSpPr>
        <p:spPr>
          <a:xfrm>
            <a:off x="6164580" y="3410712"/>
            <a:ext cx="26250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Instalación y calibración</a:t>
            </a:r>
            <a:endParaRPr/>
          </a:p>
        </p:txBody>
      </p:sp>
      <p:sp>
        <p:nvSpPr>
          <p:cNvPr id="410" name="Google Shape;410;p20"/>
          <p:cNvSpPr txBox="1"/>
          <p:nvPr/>
        </p:nvSpPr>
        <p:spPr>
          <a:xfrm>
            <a:off x="6164580" y="4041358"/>
            <a:ext cx="26250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Montaje del sensor, conexión a energía/WiFi y verificación de la primera lectura.</a:t>
            </a:r>
            <a:endParaRPr/>
          </a:p>
        </p:txBody>
      </p:sp>
      <p:sp>
        <p:nvSpPr>
          <p:cNvPr id="411" name="Google Shape;411;p20"/>
          <p:cNvSpPr/>
          <p:nvPr/>
        </p:nvSpPr>
        <p:spPr>
          <a:xfrm>
            <a:off x="8926830" y="2377440"/>
            <a:ext cx="640080" cy="640080"/>
          </a:xfrm>
          <a:prstGeom prst="ellipse">
            <a:avLst/>
          </a:prstGeom>
          <a:solidFill>
            <a:srgbClr val="B848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12" name="Google Shape;412;p20"/>
          <p:cNvSpPr txBox="1"/>
          <p:nvPr/>
        </p:nvSpPr>
        <p:spPr>
          <a:xfrm>
            <a:off x="8926830" y="3108960"/>
            <a:ext cx="26250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META</a:t>
            </a:r>
            <a:endParaRPr/>
          </a:p>
        </p:txBody>
      </p:sp>
      <p:sp>
        <p:nvSpPr>
          <p:cNvPr id="413" name="Google Shape;413;p20"/>
          <p:cNvSpPr txBox="1"/>
          <p:nvPr/>
        </p:nvSpPr>
        <p:spPr>
          <a:xfrm>
            <a:off x="8926830" y="3410712"/>
            <a:ext cx="26250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Datos en vivo</a:t>
            </a:r>
            <a:endParaRPr/>
          </a:p>
        </p:txBody>
      </p:sp>
      <p:sp>
        <p:nvSpPr>
          <p:cNvPr id="414" name="Google Shape;414;p20"/>
          <p:cNvSpPr txBox="1"/>
          <p:nvPr/>
        </p:nvSpPr>
        <p:spPr>
          <a:xfrm>
            <a:off x="8926830" y="4041358"/>
            <a:ext cx="26250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Cada escuela visible en aq.lemeit.ar, con acceso público a su propio historial.</a:t>
            </a:r>
            <a:endParaRPr/>
          </a:p>
        </p:txBody>
      </p:sp>
      <p:sp>
        <p:nvSpPr>
          <p:cNvPr id="415" name="Google Shape;415;p20"/>
          <p:cNvSpPr txBox="1"/>
          <p:nvPr/>
        </p:nvSpPr>
        <p:spPr>
          <a:xfrm>
            <a:off x="548640" y="6400800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/>
          </a:p>
        </p:txBody>
      </p:sp>
      <p:sp>
        <p:nvSpPr>
          <p:cNvPr id="416" name="Google Shape;416;p20"/>
          <p:cNvSpPr txBox="1"/>
          <p:nvPr/>
        </p:nvSpPr>
        <p:spPr>
          <a:xfrm>
            <a:off x="11457432" y="6400800"/>
            <a:ext cx="457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250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2822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1"/>
          <p:cNvSpPr/>
          <p:nvPr/>
        </p:nvSpPr>
        <p:spPr>
          <a:xfrm>
            <a:off x="822960" y="640080"/>
            <a:ext cx="640080" cy="640080"/>
          </a:xfrm>
          <a:prstGeom prst="ellipse">
            <a:avLst/>
          </a:prstGeom>
          <a:solidFill>
            <a:srgbClr val="B84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cierre.png" id="423" name="Google Shape;42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777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21"/>
          <p:cNvSpPr txBox="1"/>
          <p:nvPr/>
        </p:nvSpPr>
        <p:spPr>
          <a:xfrm>
            <a:off x="822960" y="1508760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 que proponemos a la comunidad educativa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1"/>
          <p:cNvSpPr txBox="1"/>
          <p:nvPr/>
        </p:nvSpPr>
        <p:spPr>
          <a:xfrm>
            <a:off x="822960" y="2514600"/>
            <a:ext cx="97840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DFD6"/>
              </a:buClr>
              <a:buSzPts val="17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Acompañar y difundir el proyecto entre las escuelas del distrito.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Clr>
                <a:srgbClr val="E8DFD6"/>
              </a:buClr>
              <a:buSzPts val="17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Articular con la implementación de la EAI: contenidos y capacitación docente, en conjunto con el equipo de educación.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Clr>
                <a:srgbClr val="E8DFD6"/>
              </a:buClr>
              <a:buSzPts val="17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Sumar nuevas escuelas como sedes de sensores y usar el portal como recurso de aula.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6" name="Google Shape;426;p21"/>
          <p:cNvCxnSpPr/>
          <p:nvPr/>
        </p:nvCxnSpPr>
        <p:spPr>
          <a:xfrm>
            <a:off x="822960" y="5029200"/>
            <a:ext cx="9784080" cy="0"/>
          </a:xfrm>
          <a:prstGeom prst="straightConnector1">
            <a:avLst/>
          </a:prstGeom>
          <a:noFill/>
          <a:ln cap="flat" cmpd="sng" w="12700">
            <a:solidFill>
              <a:srgbClr val="534A3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pptx_build/icons/email.png" id="427" name="Google Shape;42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5349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21"/>
          <p:cNvSpPr txBox="1"/>
          <p:nvPr/>
        </p:nvSpPr>
        <p:spPr>
          <a:xfrm>
            <a:off x="1207008" y="53309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JetBrains Mono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lucianolamaita@gmail.com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build/icons/globe.png" id="429" name="Google Shape;42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80560" y="5349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1"/>
          <p:cNvSpPr txBox="1"/>
          <p:nvPr/>
        </p:nvSpPr>
        <p:spPr>
          <a:xfrm>
            <a:off x="4864608" y="533095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JetBrains Mono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profe.lemeit.ar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build/icons/portal.png" id="431" name="Google Shape;43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0" y="5349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1"/>
          <p:cNvSpPr txBox="1"/>
          <p:nvPr/>
        </p:nvSpPr>
        <p:spPr>
          <a:xfrm>
            <a:off x="7242048" y="533095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JetBrains Mono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aq.lemeit.ar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1"/>
          <p:cNvSpPr txBox="1"/>
          <p:nvPr/>
        </p:nvSpPr>
        <p:spPr>
          <a:xfrm>
            <a:off x="822960" y="59893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800"/>
              <a:buFont typeface="Calibri"/>
              <a:buNone/>
            </a:pPr>
            <a:r>
              <a:rPr b="0" i="1" lang="en-US" sz="190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Gracias.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1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000"/>
              <a:buFont typeface="Calibri"/>
              <a:buNone/>
            </a:pPr>
            <a:r>
              <a:rPr lang="en-US" sz="1250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1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