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23"/>
    <p:sldId id="271" r:id="rId24"/>
    <p:sldId id="272" r:id="rId25"/>
    <p:sldId id="273" r:id="rId26"/>
    <p:sldId id="274" r:id="rId27"/>
    <p:sldId id="269" r:id="rId18"/>
  </p:sldIdLst>
  <p:sldSz cy="6858000" cx="12192000"/>
  <p:notesSz cx="6858000" cy="12192000"/>
  <p:embeddedFontLs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font" Target="fonts/JetBrainsMono-regular.fntdata"/><Relationship Id="rId20" Type="http://schemas.openxmlformats.org/officeDocument/2006/relationships/font" Target="fonts/JetBrainsMono-bold.fntdata"/><Relationship Id="rId21" Type="http://schemas.openxmlformats.org/officeDocument/2006/relationships/font" Target="fonts/JetBrainsMono-italic.fntdata"/><Relationship Id="rId22" Type="http://schemas.openxmlformats.org/officeDocument/2006/relationships/font" Target="fonts/JetBrainsMono-boldItalic.fntdata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dd3e0a66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9dd3e0a66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9dd3e0a66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3.png"/><Relationship Id="rId9" Type="http://schemas.openxmlformats.org/officeDocument/2006/relationships/image" Target="../media/image26.png"/><Relationship Id="rId10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3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x_build/icons/title_wind.png" id="16" name="Google Shape;16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7863840" y="1463040"/>
            <a:ext cx="47548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822960" y="1965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400"/>
              <a:buFont typeface="Calibri"/>
              <a:buNone/>
            </a:pPr>
            <a:r>
              <a:rPr b="1" i="0" lang="en-US" sz="15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331720"/>
            <a:ext cx="8961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Escuelas de Saladillo en acción por un aire limpio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None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Sensores de bajo costo para el monitoreo ambiental y la Educación Ambiental Integral en instituciones educativas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562356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Ing. Luciano Lamaita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594360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agosto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problema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aire y el agua pueden estar contaminados sin que se note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914400" y="1691640"/>
            <a:ext cx="64922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No existen datos ambientales locales y en tiempo real en los distritos de la región y mucho menos dentro del ámbito escolar.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ventilación de las aulas (CO₂) casi nunca se mide, pese a que durante las etapas del ASPO (y post pandemia) se implementó el programa Buenos Aires en las Escuelas.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Las escuelas rurales y urbanas de Saladillo y la </a:t>
            </a:r>
            <a:r>
              <a:rPr lang="en-US" sz="185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región</a:t>
            </a: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son “puntos ciegos” de monitoreo ambiental.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Sin datos propios, es difícil construir política pública local: primero hay que medir para poder decidir.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863840" y="1737360"/>
            <a:ext cx="3703320" cy="4023360"/>
          </a:xfrm>
          <a:prstGeom prst="roundRect">
            <a:avLst>
              <a:gd fmla="val 2963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8138160" y="20116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HOY, EN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8138160" y="23317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6800"/>
              <a:buFont typeface="JetBrains Mono"/>
              <a:buNone/>
            </a:pPr>
            <a:r>
              <a:rPr b="1" i="0" lang="en-US" sz="680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138160" y="352044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350"/>
              <a:buFont typeface="Calibri"/>
              <a:buNone/>
            </a:pPr>
            <a:r>
              <a:rPr b="0" i="0" lang="en-US" sz="15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escuelas con calidad de aire monitoreada en tiempo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8138160" y="4709160"/>
            <a:ext cx="31546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/>
        </p:nvSpPr>
        <p:spPr>
          <a:xfrm>
            <a:off x="8138160" y="48920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00"/>
              <a:buFont typeface="Calibri"/>
              <a:buNone/>
            </a:pPr>
            <a:r>
              <a:rPr b="0" i="1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Este proyecto instala los primeros sensores propios en escuelas del distrito.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trayectoria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De un programa internacional a una red propia en Saladillo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ANTECEDENTES (2023–2024)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914400" y="2057400"/>
            <a:ext cx="60350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8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proyecto se apoya en el Programa de Embajadores Comunitarios de OpenAQ (2023, Argentina), que capacita en monitoreo, transparencia y análisis de datos de calidad del aire.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8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Ya hay monitores desplegados: Clarity Node-S (EP N°15, zona rural), AirGradient Open Air (Saladillo urbano) y Atmotube Pro (mediciones móviles), con datos públicos en OpenAQ Explorer desde 2023.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8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 enmarca también en el Grupo de Trabajo Air Quality de la ECSA (European Citizen Science Association).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UN ANTECEDENTE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7680960" y="2240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colaboración institucional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680960" y="269748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través del programa OpenAQ, AirGradient co-localizó equipos junto a instrumentos de referencia de ACUMAR para contrastar calibraciones entre sensores de bajo costo y equipos certificados.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7680960" y="425196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5"/>
          <p:cNvSpPr txBox="1"/>
          <p:nvPr/>
        </p:nvSpPr>
        <p:spPr>
          <a:xfrm>
            <a:off x="7680960" y="443484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Es el mismo esquema que se busca replicar con el Ministerio de Ambiente provincial.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propuesta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propuesta: sensores de bajo costo en las escuelas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914400" y="2011680"/>
            <a:ext cx="6035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None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Evaluar material particulado (PM1, PM2.5, PM10), compuestos orgánicos volátiles, humedad, temperatura, presión y CO₂ en escuelas urbanas y rurales de la provincia, dentro y fuera del aula.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914400" y="342900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914400" y="3749040"/>
            <a:ext cx="6035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Equipos out-of-the-box (PurpleAir, AirGradient, Clarity) y prototipos DIY con hardware abierto.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Instalación estratégica según ubicación, exposición y valor pedagógico del sitio.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publicados en tiempo real en un portal propio, abierto a la comunidad.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7360920" y="1623053"/>
            <a:ext cx="4206300" cy="44349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7680960" y="19476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PARTE DE UNA RED INTERNACIONAL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7680960" y="22219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de 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7680960" y="5067953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 txBox="1"/>
          <p:nvPr/>
        </p:nvSpPr>
        <p:spPr>
          <a:xfrm>
            <a:off x="7680960" y="5177953"/>
            <a:ext cx="35661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1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En el marco del Programa de Embajadores Comunitarios de OpenAQ (2023) y del Grupo de Trabajo Air Quality de la ECSA.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7680990" y="2650000"/>
            <a:ext cx="1050000" cy="45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97" y="2730000"/>
            <a:ext cx="574385" cy="290000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8939070" y="2650000"/>
            <a:ext cx="1050000" cy="45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434" y="2730000"/>
            <a:ext cx="527272" cy="290000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10197150" y="2650000"/>
            <a:ext cx="1050000" cy="45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150" y="2781056"/>
            <a:ext cx="889999" cy="187888"/>
          </a:xfrm>
          <a:prstGeom prst="rect">
            <a:avLst/>
          </a:prstGeom>
        </p:spPr>
      </p:pic>
      <p:sp>
        <p:nvSpPr>
          <p:cNvPr id="94" name="Oval 93"/>
          <p:cNvSpPr/>
          <p:nvPr/>
        </p:nvSpPr>
        <p:spPr>
          <a:xfrm>
            <a:off x="7830990" y="3550000"/>
            <a:ext cx="950000" cy="95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aire_ciudadano_cle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5990" y="3719750"/>
            <a:ext cx="660000" cy="610500"/>
          </a:xfrm>
          <a:prstGeom prst="rect">
            <a:avLst/>
          </a:prstGeom>
        </p:spPr>
      </p:pic>
      <p:sp>
        <p:nvSpPr>
          <p:cNvPr id="96" name="Oval 95"/>
          <p:cNvSpPr/>
          <p:nvPr/>
        </p:nvSpPr>
        <p:spPr>
          <a:xfrm>
            <a:off x="8989070" y="3550000"/>
            <a:ext cx="950000" cy="95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796" y="3695000"/>
            <a:ext cx="566548" cy="660000"/>
          </a:xfrm>
          <a:prstGeom prst="rect">
            <a:avLst/>
          </a:prstGeom>
        </p:spPr>
      </p:pic>
      <p:sp>
        <p:nvSpPr>
          <p:cNvPr id="98" name="Oval 97"/>
          <p:cNvSpPr/>
          <p:nvPr/>
        </p:nvSpPr>
        <p:spPr>
          <a:xfrm>
            <a:off x="10147150" y="3550000"/>
            <a:ext cx="950000" cy="95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2150" y="3701111"/>
            <a:ext cx="660000" cy="6477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 title="slide5only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13" y="45725"/>
            <a:ext cx="12029384" cy="676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equipos.png"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Los equipos, en el terreno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91440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assets/airgradient_deploy.jpg" id="103" name="Google Shape;1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977276"/>
            <a:ext cx="3261665" cy="24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 txBox="1"/>
          <p:nvPr/>
        </p:nvSpPr>
        <p:spPr>
          <a:xfrm>
            <a:off x="91440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AirGradient Open Air instalado — Programa OpenAQ, 2023.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450385" y="1828800"/>
            <a:ext cx="3261600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06" name="Google Shape;106;p8"/>
          <p:cNvSpPr txBox="1"/>
          <p:nvPr/>
        </p:nvSpPr>
        <p:spPr>
          <a:xfrm>
            <a:off x="4450385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Sensor instalado en una escuela de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98637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798637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portal aq.lemeit.ar en uso, en el aula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0390" y="1980082"/>
            <a:ext cx="3261660" cy="2443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 rotWithShape="1">
          <a:blip r:embed="rId6">
            <a:alphaModFix/>
          </a:blip>
          <a:srcRect b="7114" l="999" r="7376" t="11855"/>
          <a:stretch/>
        </p:blipFill>
        <p:spPr>
          <a:xfrm>
            <a:off x="7986375" y="1980075"/>
            <a:ext cx="3261600" cy="24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parametros.png" id="119" name="Google Shape;1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Qué se mide, y por qué importa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914400" y="16916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PARÁMETRO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3977640" y="1691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6537960" y="16916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 QUÉ IMPORTA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9"/>
          <p:cNvCxnSpPr/>
          <p:nvPr/>
        </p:nvCxnSpPr>
        <p:spPr>
          <a:xfrm>
            <a:off x="914400" y="2011680"/>
            <a:ext cx="102412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9"/>
          <p:cNvSpPr txBox="1"/>
          <p:nvPr/>
        </p:nvSpPr>
        <p:spPr>
          <a:xfrm>
            <a:off x="914400" y="2148840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PM1 · PM2.5 · PM10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3977640" y="214884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Material particulado en suspensión, según su diámetro (1 / 2,5 / 10 micrones)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6537960" y="2148840"/>
            <a:ext cx="4617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PM2.5 penetra más profundo en el sistema respiratorio; Argentina promedia niveles que duplican la guía de la OMS.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9"/>
          <p:cNvCxnSpPr/>
          <p:nvPr/>
        </p:nvCxnSpPr>
        <p:spPr>
          <a:xfrm>
            <a:off x="914400" y="27889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9"/>
          <p:cNvSpPr txBox="1"/>
          <p:nvPr/>
        </p:nvSpPr>
        <p:spPr>
          <a:xfrm>
            <a:off x="914400" y="28072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 (VOC)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3977640" y="28072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Compuestos orgánicos volátiles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6537960" y="28072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Trazan fuentes de combustión, pinturas, solventes y otros contaminantes del aire interior y exterior.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9"/>
          <p:cNvCxnSpPr/>
          <p:nvPr/>
        </p:nvCxnSpPr>
        <p:spPr>
          <a:xfrm>
            <a:off x="914400" y="32461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9"/>
          <p:cNvSpPr txBox="1"/>
          <p:nvPr/>
        </p:nvSpPr>
        <p:spPr>
          <a:xfrm>
            <a:off x="914400" y="32644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3977640" y="32644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Óxidos de nitrógeno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6537960" y="32644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Asociados al tránsito vehicular y a procesos de combustión.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9"/>
          <p:cNvCxnSpPr/>
          <p:nvPr/>
        </p:nvCxnSpPr>
        <p:spPr>
          <a:xfrm>
            <a:off x="914400" y="37033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9"/>
          <p:cNvSpPr txBox="1"/>
          <p:nvPr/>
        </p:nvSpPr>
        <p:spPr>
          <a:xfrm>
            <a:off x="914400" y="37216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3977640" y="37216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Dióxido de carbono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537960" y="37216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Indicador directo de la ventilación del aula: a mayor acumulación, peor recambio de aire.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9"/>
          <p:cNvCxnSpPr/>
          <p:nvPr/>
        </p:nvCxnSpPr>
        <p:spPr>
          <a:xfrm>
            <a:off x="914400" y="41605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9"/>
          <p:cNvSpPr txBox="1"/>
          <p:nvPr/>
        </p:nvSpPr>
        <p:spPr>
          <a:xfrm>
            <a:off x="914400" y="41788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Humedad y temperatura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3977640" y="41788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Condiciones ambientales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6537960" y="41788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Contexto necesario para interpretar correctamente el resto de los parámetros.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9"/>
          <p:cNvCxnSpPr/>
          <p:nvPr/>
        </p:nvCxnSpPr>
        <p:spPr>
          <a:xfrm>
            <a:off x="914400" y="46177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9"/>
          <p:cNvSpPr txBox="1"/>
          <p:nvPr/>
        </p:nvSpPr>
        <p:spPr>
          <a:xfrm>
            <a:off x="914400" y="46360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Presión atmosférica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3977640" y="46360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6537960" y="46360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Completa el panorama meteorológico del sitio de medición.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914400" y="6108192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1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parámetros y umbrales de referencia según el Programa de Embajadores OpenAQ (2023–24) y guías de calidad del aire de la OMS.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portal.png"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aq.lemeit.ar — cómo se leen los datos, y para qué sirven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914400" y="1828800"/>
            <a:ext cx="5577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349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Char char="•"/>
            </a:pPr>
            <a:r>
              <a:rPr b="0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Mapa en vivo de los sensores activos, con AQI y PM2.5 al instante.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Char char="•"/>
            </a:pPr>
            <a:r>
              <a:rPr b="0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Historial por sensor en 3 ventanas — 24 h / 7 días / 30 días — en gráfico y en tabla, escalable a más sensores.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Char char="•"/>
            </a:pPr>
            <a:r>
              <a:rPr b="0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Acceso abierto también por API pública (JSON) y exportación a CSV, para analizar los datos con otras herramientas.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Char char="•"/>
            </a:pPr>
            <a:r>
              <a:rPr b="0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Para qué sirve: series reales para trabajar en clase, insumo para ferias de ciencia, y evidencia para pedir mejoras o alertar situaciones puntuales.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914400" y="5644960"/>
            <a:ext cx="5577840" cy="548640"/>
          </a:xfrm>
          <a:prstGeom prst="roundRect">
            <a:avLst>
              <a:gd fmla="val 50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914400" y="564496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5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858000" y="1783080"/>
            <a:ext cx="4709160" cy="4160520"/>
          </a:xfrm>
          <a:prstGeom prst="roundRect">
            <a:avLst>
              <a:gd fmla="val 3077" name="adj"/>
            </a:avLst>
          </a:prstGeom>
          <a:solidFill>
            <a:srgbClr val="2E2822"/>
          </a:solidFill>
          <a:ln>
            <a:noFill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7086600" y="196596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7315200" y="1965960"/>
            <a:ext cx="118872" cy="11887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6995160" y="2221992"/>
            <a:ext cx="4434840" cy="3584448"/>
          </a:xfrm>
          <a:prstGeom prst="roundRect">
            <a:avLst>
              <a:gd fmla="val 10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assets/screenshot_aq.png" id="167" name="Google Shape;167;p10"/>
          <p:cNvPicPr preferRelativeResize="0"/>
          <p:nvPr/>
        </p:nvPicPr>
        <p:blipFill rotWithShape="1">
          <a:blip r:embed="rId4">
            <a:alphaModFix/>
          </a:blip>
          <a:srcRect b="0" l="0" r="1961" t="0"/>
          <a:stretch/>
        </p:blipFill>
        <p:spPr>
          <a:xfrm>
            <a:off x="6995150" y="2628325"/>
            <a:ext cx="4434851" cy="282722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ambiental.png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ambiental: datos abiertos para decidir con evidencia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914400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115568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chart.png"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5296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 txBox="1"/>
          <p:nvPr/>
        </p:nvSpPr>
        <p:spPr>
          <a:xfrm>
            <a:off x="1097280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Tendencias y fuentes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1097280" y="315468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monitoreo continuo permite identificar picos de contaminación y sus posibles fuentes.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3547872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3749040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ley.png" id="185" name="Google Shape;18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8768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 txBox="1"/>
          <p:nvPr/>
        </p:nvSpPr>
        <p:spPr>
          <a:xfrm>
            <a:off x="3730752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Base para decidir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3730702" y="3000125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como insumo para ordenanzas y políticas locales de aire limpio.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181344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6382512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globe.png" id="190" name="Google Shape;19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 txBox="1"/>
          <p:nvPr/>
        </p:nvSpPr>
        <p:spPr>
          <a:xfrm>
            <a:off x="6364224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Monitoreo integral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6364224" y="3080605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Aire, clima y agua en un mismo ecosistema: los portales aq · ema · wq de Saladillo.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8814816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9015984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users.png" id="195" name="Google Shape;19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25712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/>
        </p:nvSpPr>
        <p:spPr>
          <a:xfrm>
            <a:off x="8997696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abiertos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8997621" y="3080630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Disponibles para la comunidad, escuelas y organismos de control, sin restricciones.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pedagogico.png" id="206" name="Google Shape;2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pedagógico: los estudiantes como protagonistas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student.png" id="209" name="Google Shape;20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 txBox="1"/>
          <p:nvPr/>
        </p:nvSpPr>
        <p:spPr>
          <a:xfrm>
            <a:off x="1691640" y="1764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Construyen y monitorean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1691640" y="207568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Participan de la instalación, calibración y seguimiento de sus propios sensores.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914400" y="2770632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laptop.png" id="213" name="Google Shape;21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29077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"/>
          <p:cNvSpPr txBox="1"/>
          <p:nvPr/>
        </p:nvSpPr>
        <p:spPr>
          <a:xfrm>
            <a:off x="1691640" y="2752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Aprenden haciendo (STEAM)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691640" y="306324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Ciencias ambientales, análisis de datos y tecnología, con herramientas reales.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914400" y="3758184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flag.png" id="217" name="Google Shape;21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38953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/>
          <p:nvPr/>
        </p:nvSpPr>
        <p:spPr>
          <a:xfrm>
            <a:off x="1691640" y="3739896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Ferias y proyectos escolares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1691640" y="4050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y locales para trabajos de investigación y ferias de ciencia.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14400" y="4745736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check.png" id="221" name="Google Shape;22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48828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1691640" y="472744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Responsabilidad ambiental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691640" y="5038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Construyen conciencia y pertenencia sobre la calidad del aire de su comunidad.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ministerio.png"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futura aliada: el Ministerio de Ambiente bonaerense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RED DE REFERENCIA YA EXISTENTE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914400" y="2057400"/>
            <a:ext cx="60350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349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Opera estaciones fijas de referencia, alineadas a estándares EPA (Decreto 1074/2018), en Dock Sud, La Matanza, Zárate, Bahía Blanca, La Plata, Berisso y Ensenada.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Sumó en 2025 cuatro estaciones nuevas sobre la Cuenca del Río Reconquista, financiadas junto al BID.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Son equipos de referencia, no de bajo costo: exactamente el complemento que le falta a una red escolar como esta.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37" name="Google Shape;237;p13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LA OPORTUNIDAD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7680960" y="224028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Co-localizar y calibrar en conjunto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7680960" y="292608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mismo esquema que ya conectó a AirGradient con ACUMAR (ver Trayectoria) podría aplicarse acá: contrastar los sensores escolares de Saladillo contra una estación de referencia provincial.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3"/>
          <p:cNvCxnSpPr/>
          <p:nvPr/>
        </p:nvCxnSpPr>
        <p:spPr>
          <a:xfrm>
            <a:off x="7680960" y="461772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3"/>
          <p:cNvSpPr txBox="1"/>
          <p:nvPr/>
        </p:nvSpPr>
        <p:spPr>
          <a:xfrm>
            <a:off x="7680960" y="47548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Ganar precisión sin perder el volumen y la cercanía del monitoreo de bajo costo.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914400" y="6108192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0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Fuentes: Ministerio de Ambiente de la Provincia de Buenos Aires (ex-OPDS) · Informe de Gestión 2025.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ley.png" id="251" name="Google Shape;2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aplicación territorial de la Educación Ambiental Integral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LEY 27.621 (2021)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Establece el derecho a la Educación Ambiental Integral (EAI) como política pública nacional.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914400" y="3017520"/>
            <a:ext cx="10332720" cy="2194560"/>
          </a:xfrm>
          <a:prstGeom prst="roundRect">
            <a:avLst>
              <a:gd fmla="val 5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1280160" y="324612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Este proyecto no reemplaza la currícula: le da datos reales, propios y locales para trabajarla en el aula. El desarrollo de contenidos específicos y la capacitación docente se definen en conjunto con el equipo de educación.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Ley 27.621 · Educación Ambiental Integral, DGCyE — Provincia de Buenos Aires.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hoja_ruta.png" id="266" name="Google Shape;2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Hoja de ruta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5"/>
          <p:cNvCxnSpPr/>
          <p:nvPr/>
        </p:nvCxnSpPr>
        <p:spPr>
          <a:xfrm>
            <a:off x="2148840" y="2697480"/>
            <a:ext cx="8412480" cy="0"/>
          </a:xfrm>
          <a:prstGeom prst="straightConnector1">
            <a:avLst/>
          </a:prstGeom>
          <a:noFill/>
          <a:ln cap="flat" cmpd="sng" w="25400">
            <a:solidFill>
              <a:srgbClr val="DDD2C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9" name="Google Shape;269;p15"/>
          <p:cNvSpPr/>
          <p:nvPr/>
        </p:nvSpPr>
        <p:spPr>
          <a:xfrm>
            <a:off x="182880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182880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3200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EN MARCHA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32004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Sensores en escuelas piloto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32004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Primeros equipos instalados; datos ya visibles y en vivo en el portal aq.lemeit.ar.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6035040" y="2377440"/>
            <a:ext cx="640080" cy="64008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603504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452628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PRÓXIMO PASO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452628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Talleres con estudiantes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452628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Armado y monitoreo participativo, en convenio con escuelas técnicas y universidades.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10241280" y="2377440"/>
            <a:ext cx="640080" cy="64008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1024128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873252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873252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Expansión distrital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873252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Sumar escuelas de todos los niveles e impulsar una ordenanza municipal de aire limpio.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ptx_build/icons/cierre.png" id="292" name="Google Shape;2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6"/>
          <p:cNvSpPr txBox="1"/>
          <p:nvPr/>
        </p:nvSpPr>
        <p:spPr>
          <a:xfrm>
            <a:off x="822960" y="150876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proponemos a la comunidad educativa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822960" y="2514600"/>
            <a:ext cx="9784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Acompañar y difundir el proyecto entre las escuelas del distrito.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Articular con la implementación de la EAI: contenidos y capacitación docente, en conjunto con el equipo de educación.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Sumar nuevas escuelas como sedes de sensores y usar el portal como recurso de aula.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6"/>
          <p:cNvCxnSpPr/>
          <p:nvPr/>
        </p:nvCxnSpPr>
        <p:spPr>
          <a:xfrm>
            <a:off x="822960" y="5029200"/>
            <a:ext cx="978408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cons/email.png" id="296" name="Google Shape;2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6"/>
          <p:cNvSpPr txBox="1"/>
          <p:nvPr/>
        </p:nvSpPr>
        <p:spPr>
          <a:xfrm>
            <a:off x="1207008" y="5330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lucianolamaita@gmail.com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globe.png" id="298" name="Google Shape;29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 txBox="1"/>
          <p:nvPr/>
        </p:nvSpPr>
        <p:spPr>
          <a:xfrm>
            <a:off x="486460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profe.lemeit.ar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portal.png" id="300" name="Google Shape;30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6"/>
          <p:cNvSpPr txBox="1"/>
          <p:nvPr/>
        </p:nvSpPr>
        <p:spPr>
          <a:xfrm>
            <a:off x="724204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Gracias.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 · Saladillo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2A1D12"/>
                </a:solidFill>
                <a:latin typeface="Calibri"/>
              </a:rPr>
              <a:t>Próxima etapa: 5 escuelas confirmadas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7A6A"/>
                </a:solidFill>
                <a:latin typeface="Calibri"/>
              </a:rPr>
              <a:t>Saladillo (3) y el partido de 25 de Mayo (2) — primera expansión de la red fuera de Saladillo.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INSTITUCIÓN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DISTRITO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ZONA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011680"/>
            <a:ext cx="286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DIRECCIÓN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10546080" cy="6400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2A1D12"/>
                </a:solidFill>
                <a:latin typeface="Calibri"/>
              </a:rPr>
              <a:t>EES N°2 "Manuel Pardal"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42316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2A1D12"/>
                </a:solidFill>
                <a:latin typeface="Calibri"/>
              </a:rPr>
              <a:t>Saladillo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42316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B3D00"/>
                </a:solidFill>
                <a:latin typeface="Calibri"/>
              </a:rPr>
              <a:t>Urbana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423160"/>
            <a:ext cx="2682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8A7A6A"/>
                </a:solidFill>
                <a:latin typeface="Calibri"/>
              </a:rPr>
              <a:t>Calle Pereyra 3046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54680"/>
            <a:ext cx="10546080" cy="6400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54680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2A1D12"/>
                </a:solidFill>
                <a:latin typeface="Calibri"/>
              </a:rPr>
              <a:t>Instituto Niño Jesús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15468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2A1D12"/>
                </a:solidFill>
                <a:latin typeface="Calibri"/>
              </a:rPr>
              <a:t>Saladillo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15468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B3D00"/>
                </a:solidFill>
                <a:latin typeface="Calibri"/>
              </a:rPr>
              <a:t>Urbana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154680"/>
            <a:ext cx="2682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8A7A6A"/>
                </a:solidFill>
                <a:latin typeface="Calibri"/>
              </a:rPr>
              <a:t>Av. Belgrano 2999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886200"/>
            <a:ext cx="10546080" cy="6400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886200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2A1D12"/>
                </a:solidFill>
                <a:latin typeface="Calibri"/>
              </a:rPr>
              <a:t>Colegio Secundario Madre Teresa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88620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2A1D12"/>
                </a:solidFill>
                <a:latin typeface="Calibri"/>
              </a:rPr>
              <a:t>Saladillo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88620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D9691F"/>
                </a:solidFill>
                <a:latin typeface="Calibri"/>
              </a:rPr>
              <a:t>Rural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886200"/>
            <a:ext cx="2682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8A7A6A"/>
                </a:solidFill>
                <a:latin typeface="Calibri"/>
              </a:rPr>
              <a:t>Calle Jauretche e Yrigoyen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617720"/>
            <a:ext cx="10546080" cy="6400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617720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2A1D12"/>
                </a:solidFill>
                <a:latin typeface="Calibri"/>
              </a:rPr>
              <a:t>Esc. de Educación Artística N°1 "Lola Mora"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61772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2A1D12"/>
                </a:solidFill>
                <a:latin typeface="Calibri"/>
              </a:rPr>
              <a:t>25 de Mayo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61772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9B3D00"/>
                </a:solidFill>
                <a:latin typeface="Calibri"/>
              </a:rPr>
              <a:t>Urbana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617720"/>
            <a:ext cx="2682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8A7A6A"/>
                </a:solidFill>
                <a:latin typeface="Calibri"/>
              </a:rPr>
              <a:t>Calle 7 entre 23 y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349240"/>
            <a:ext cx="10546080" cy="6400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349240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2A1D12"/>
                </a:solidFill>
                <a:latin typeface="Calibri"/>
              </a:rPr>
              <a:t>Esc. Agraria C.M. Casares (EAS Del Valle)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34924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2A1D12"/>
                </a:solidFill>
                <a:latin typeface="Calibri"/>
              </a:rPr>
              <a:t>25 de Mayo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34924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D9691F"/>
                </a:solidFill>
                <a:latin typeface="Calibri"/>
              </a:rPr>
              <a:t>Rural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349240"/>
            <a:ext cx="2682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8A7A6A"/>
                </a:solidFill>
                <a:latin typeface="Calibri"/>
              </a:rPr>
              <a:t>Zona rural, Del Valle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8A7A6A"/>
                </a:solidFill>
                <a:latin typeface="Calibri"/>
              </a:rPr>
              <a:t>Ciencia Ciudadana Ambiental · Saladillo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>
                <a:solidFill>
                  <a:srgbClr val="8A7A6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2A1D12"/>
                </a:solidFill>
                <a:latin typeface="Calibri"/>
              </a:rPr>
              <a:t>Un vacío de monitoreo en el centro de la provincia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8A7A6A"/>
                </a:solidFill>
                <a:latin typeface="Calibri"/>
              </a:rPr>
              <a:t>Organizaciones como OpenAQ y EPIC (Universidad de Chicago) señalan que buena parte del mundo no produce datos públicos de calidad del aire — y el centro de la provincia de Buenos Aires es un caso de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6280"/>
            <a:ext cx="3332480" cy="2236194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urpleair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720"/>
            <a:ext cx="3149600" cy="14589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608114"/>
            <a:ext cx="314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1D12"/>
                </a:solidFill>
                <a:latin typeface="Calibri"/>
              </a:rPr>
              <a:t>PurpleAir (red ciudadana): cientos de sensores en Brasil, Paraguay y Chile — casi nada en Argentina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760" y="1966280"/>
            <a:ext cx="3332480" cy="2253339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penaq_country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200" y="2057720"/>
            <a:ext cx="3149600" cy="14760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1200" y="3625259"/>
            <a:ext cx="314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1D12"/>
                </a:solidFill>
                <a:latin typeface="Calibri"/>
              </a:rPr>
              <a:t>OpenAQ (red oficial agregada): mismo patrón — Chile con estaciones, Argentina casi vacía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120" y="1966280"/>
            <a:ext cx="3332480" cy="2253339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penaq_local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560" y="2057720"/>
            <a:ext cx="3149600" cy="14760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36560" y="3625259"/>
            <a:ext cx="314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1D12"/>
                </a:solidFill>
                <a:latin typeface="Calibri"/>
              </a:rPr>
              <a:t>Alrededor de Saladillo y 25 de Mayo: un solo punto en el mapa — el nuestro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02499"/>
            <a:ext cx="10363200" cy="8686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539659"/>
            <a:ext cx="981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A1D12"/>
                </a:solidFill>
                <a:latin typeface="Calibri"/>
              </a:rPr>
              <a:t>“La contaminación por material particulado fino (PM2.5) es uno de los mayores riesgos externos para la salud humana — y sin embargo sigue gravemente sub-monitoreada, sobre todo en las regiones con más contaminación y menos datos.”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78571"/>
            <a:ext cx="981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7A6A"/>
                </a:solidFill>
                <a:latin typeface="Calibri"/>
              </a:rPr>
              <a:t>— C. Hasenkopf et al., Energy Policy Institute at the University of Chicago (EPIC),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8A7A6A"/>
                </a:solidFill>
                <a:latin typeface="Calibri"/>
              </a:rPr>
              <a:t>Ciencia Ciudadana Ambiental · Saladillo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>
                <a:solidFill>
                  <a:srgbClr val="8A7A6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2A1D12"/>
                </a:solidFill>
                <a:latin typeface="Calibri"/>
              </a:rPr>
              <a:t>Dónde están las 5 escuelas</a:t>
            </a:r>
          </a:p>
        </p:txBody>
      </p:sp>
      <p:pic>
        <p:nvPicPr>
          <p:cNvPr id="5" name="Picture 4" descr="mapa_escue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96" y="1508760"/>
            <a:ext cx="6956408" cy="4525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8A7A6A"/>
                </a:solidFill>
                <a:latin typeface="Calibri"/>
              </a:rPr>
              <a:t>Ciencia Ciudadana Ambiental · Saladillo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>
                <a:solidFill>
                  <a:srgbClr val="8A7A6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2A1D12"/>
                </a:solidFill>
                <a:latin typeface="Calibri"/>
              </a:rPr>
              <a:t>Qué necesitamos de cada institución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20"/>
            <a:ext cx="4724400" cy="20116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426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1D12"/>
                </a:solidFill>
                <a:latin typeface="Calibri"/>
              </a:rPr>
              <a:t>Un lugar para el 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426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7A6A"/>
                </a:solidFill>
                <a:latin typeface="Calibri"/>
              </a:rPr>
              <a:t>Un punto exterior, con buena exposición al aire y protegido de lluvia directa — sobre un muro o baranda, a 2-4 m de altura. Lo definimos juntos en la visita.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200" y="1874520"/>
            <a:ext cx="4724400" cy="20116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0" y="2103120"/>
            <a:ext cx="426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1D12"/>
                </a:solidFill>
                <a:latin typeface="Calibri"/>
              </a:rPr>
              <a:t>Energía cerca del punto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560320"/>
            <a:ext cx="426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7A6A"/>
                </a:solidFill>
                <a:latin typeface="Calibri"/>
              </a:rPr>
              <a:t>Un toma corriente a alcance del cable (o cerca, para extender). El sensor consume muy poco — similar a un router hogareño.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4724400" cy="20116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43400"/>
            <a:ext cx="426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1D12"/>
                </a:solidFill>
                <a:latin typeface="Calibri"/>
              </a:rPr>
              <a:t>WiFi o alternativa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00600"/>
            <a:ext cx="426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7A6A"/>
                </a:solidFill>
                <a:latin typeface="Calibri"/>
              </a:rPr>
              <a:t>Acceso a la red WiFi de la institución. Si no es posible, se evalúa conectividad por datos móviles caso por caso.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200" y="4114800"/>
            <a:ext cx="4724400" cy="2011680"/>
          </a:xfrm>
          <a:prstGeom prst="roundRect">
            <a:avLst>
              <a:gd name="adj" fmla="val 4500"/>
            </a:avLst>
          </a:prstGeom>
          <a:solidFill>
            <a:srgbClr val="F0EBE2"/>
          </a:solidFill>
          <a:ln>
            <a:noFill/>
          </a:ln>
          <a:effectLst>
            <a:outerShdw blurRad="127000" dist="38100" dir="5400000" algn="bl" rotWithShape="0">
              <a:srgbClr val="2A1D12">
                <a:alpha val="18039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800" y="4343400"/>
            <a:ext cx="426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1D12"/>
                </a:solidFill>
                <a:latin typeface="Calibri"/>
              </a:rPr>
              <a:t>Un referente de contacto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4800600"/>
            <a:ext cx="426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7A6A"/>
                </a:solidFill>
                <a:latin typeface="Calibri"/>
              </a:rPr>
              <a:t>Alguien del equipo directivo o docente que autorice el acceso el día de instalación y sea el enlace del proyecto en la escuela.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8A7A6A"/>
                </a:solidFill>
                <a:latin typeface="Calibri"/>
              </a:rPr>
              <a:t>Ciencia Ciudadana Ambiental · Saladillo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>
                <a:solidFill>
                  <a:srgbClr val="8A7A6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2A1D12"/>
                </a:solidFill>
                <a:latin typeface="Calibri"/>
              </a:rPr>
              <a:t>Cronograma — próximos pasos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6250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16 SEP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10712"/>
            <a:ext cx="26250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1D12"/>
                </a:solidFill>
                <a:latin typeface="Calibri"/>
              </a:rPr>
              <a:t>Reunión con equipos directivos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26250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7A6A"/>
                </a:solidFill>
                <a:latin typeface="Calibri"/>
              </a:rPr>
              <a:t>Coordinación institucional: presentación del proyecto y definición de un referente por escuela.</a:t>
            </a:r>
          </a:p>
        </p:txBody>
      </p:sp>
      <p:sp>
        <p:nvSpPr>
          <p:cNvPr id="9" name="Oval 8"/>
          <p:cNvSpPr/>
          <p:nvPr/>
        </p:nvSpPr>
        <p:spPr>
          <a:xfrm>
            <a:off x="34023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2330" y="3108960"/>
            <a:ext cx="26250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PRÓXIMAS SEMANAS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2330" y="3410712"/>
            <a:ext cx="26250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1D12"/>
                </a:solidFill>
                <a:latin typeface="Calibri"/>
              </a:rPr>
              <a:t>Relevamiento en sitio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2330" y="3886200"/>
            <a:ext cx="26250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7A6A"/>
                </a:solidFill>
                <a:latin typeface="Calibri"/>
              </a:rPr>
              <a:t>Visita a cada institución para definir junto al referente el punto exacto de instalación.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645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4580" y="3108960"/>
            <a:ext cx="26250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TRAS EL RELEVAMIENTO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4580" y="3410712"/>
            <a:ext cx="26250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1D12"/>
                </a:solidFill>
                <a:latin typeface="Calibri"/>
              </a:rPr>
              <a:t>Instalación y calibración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580" y="3886200"/>
            <a:ext cx="26250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7A6A"/>
                </a:solidFill>
                <a:latin typeface="Calibri"/>
              </a:rPr>
              <a:t>Montaje del sensor, conexión a energía/WiFi y verificación de la primera lectura.</a:t>
            </a:r>
          </a:p>
        </p:txBody>
      </p:sp>
      <p:sp>
        <p:nvSpPr>
          <p:cNvPr id="17" name="Oval 16"/>
          <p:cNvSpPr/>
          <p:nvPr/>
        </p:nvSpPr>
        <p:spPr>
          <a:xfrm>
            <a:off x="89268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6830" y="3108960"/>
            <a:ext cx="26250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B3D00"/>
                </a:solidFill>
                <a:latin typeface="Calibri"/>
              </a:rPr>
              <a:t>META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6830" y="3410712"/>
            <a:ext cx="26250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1D12"/>
                </a:solidFill>
                <a:latin typeface="Calibri"/>
              </a:rPr>
              <a:t>Datos en vivo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6830" y="3886200"/>
            <a:ext cx="26250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7A6A"/>
                </a:solidFill>
                <a:latin typeface="Calibri"/>
              </a:rPr>
              <a:t>Cada escuela visible en aq.lemeit.ar, con acceso público a su propio historial.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8A7A6A"/>
                </a:solidFill>
                <a:latin typeface="Calibri"/>
              </a:rPr>
              <a:t>Ciencia Ciudadana Ambiental · Saladillo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>
                <a:solidFill>
                  <a:srgbClr val="8A7A6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