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70" r:id="rId23"/>
    <p:sldId id="271" r:id="rId24"/>
    <p:sldId id="272" r:id="rId25"/>
    <p:sldId id="273" r:id="rId26"/>
    <p:sldId id="274" r:id="rId27"/>
    <p:sldId id="269" r:id="rId18"/>
  </p:sldIdLst>
  <p:sldSz cy="6858000" cx="12192000"/>
  <p:notesSz cx="6858000" cy="12192000"/>
  <p:embeddedFontLst>
    <p:embeddedFont>
      <p:font typeface="JetBrains Mono"/>
      <p:regular r:id="rId19"/>
      <p:bold r:id="rId20"/>
      <p:italic r:id="rId21"/>
      <p:boldItalic r:id="rId22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9.xml"/><Relationship Id="rId19" Type="http://schemas.openxmlformats.org/officeDocument/2006/relationships/font" Target="fonts/JetBrainsMono-regular.fntdata"/><Relationship Id="rId20" Type="http://schemas.openxmlformats.org/officeDocument/2006/relationships/font" Target="fonts/JetBrainsMono-bold.fntdata"/><Relationship Id="rId21" Type="http://schemas.openxmlformats.org/officeDocument/2006/relationships/font" Target="fonts/JetBrainsMono-italic.fntdata"/><Relationship Id="rId22" Type="http://schemas.openxmlformats.org/officeDocument/2006/relationships/font" Target="fonts/JetBrainsMono-boldItalic.fntdata"/><Relationship Id="rId23" Type="http://schemas.openxmlformats.org/officeDocument/2006/relationships/slide" Target="slides/slide14.xml"/><Relationship Id="rId24" Type="http://schemas.openxmlformats.org/officeDocument/2006/relationships/slide" Target="slides/slide15.xml"/><Relationship Id="rId25" Type="http://schemas.openxmlformats.org/officeDocument/2006/relationships/slide" Target="slides/slide16.xml"/><Relationship Id="rId26" Type="http://schemas.openxmlformats.org/officeDocument/2006/relationships/slide" Target="slides/slide17.xml"/><Relationship Id="rId27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" name="Google Shape;13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" name="Google Shape;14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4" name="Google Shape;24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" name="Google Shape;25;p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1" name="Google Shape;4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" name="Google Shape;42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9" name="Google Shape;59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0" name="Google Shape;60;p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f9dd3e0a66_1_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0" name="Google Shape;90;g3f9dd3e0a66_1_7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" name="Google Shape;91;g3f9dd3e0a66_1_7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6" name="Google Shape;9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7" name="Google Shape;97;p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5" name="Google Shape;11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6" name="Google Shape;116;p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3" name="Google Shape;153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2" name="Google Shape;17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3" name="Google Shape;173;p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02" name="Google Shape;202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28" name="Google Shape;22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9" name="Google Shape;229;p1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5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47" name="Google Shape;24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8" name="Google Shape;248;p1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0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2" name="Google Shape;262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3" name="Google Shape;26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6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88" name="Google Shape;2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1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9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Relationship Id="rId4" Type="http://schemas.openxmlformats.org/officeDocument/2006/relationships/image" Target="../media/image29.png"/><Relationship Id="rId5" Type="http://schemas.openxmlformats.org/officeDocument/2006/relationships/image" Target="../media/image20.png"/><Relationship Id="rId6" Type="http://schemas.openxmlformats.org/officeDocument/2006/relationships/image" Target="../media/image14.png"/><Relationship Id="rId7" Type="http://schemas.openxmlformats.org/officeDocument/2006/relationships/image" Target="../media/image21.png"/><Relationship Id="rId8" Type="http://schemas.openxmlformats.org/officeDocument/2006/relationships/image" Target="../media/image13.png"/><Relationship Id="rId9" Type="http://schemas.openxmlformats.org/officeDocument/2006/relationships/image" Target="../media/image26.png"/><Relationship Id="rId10" Type="http://schemas.openxmlformats.org/officeDocument/2006/relationships/image" Target="../media/image1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Relationship Id="rId4" Type="http://schemas.openxmlformats.org/officeDocument/2006/relationships/image" Target="../media/image17.jpg"/><Relationship Id="rId5" Type="http://schemas.openxmlformats.org/officeDocument/2006/relationships/image" Target="../media/image4.png"/><Relationship Id="rId6" Type="http://schemas.openxmlformats.org/officeDocument/2006/relationships/image" Target="../media/image1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Relationship Id="rId4" Type="http://schemas.openxmlformats.org/officeDocument/2006/relationships/image" Target="../media/image3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27.png"/><Relationship Id="rId7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8.png"/><Relationship Id="rId4" Type="http://schemas.openxmlformats.org/officeDocument/2006/relationships/image" Target="../media/image7.png"/><Relationship Id="rId5" Type="http://schemas.openxmlformats.org/officeDocument/2006/relationships/image" Target="../media/image10.png"/><Relationship Id="rId6" Type="http://schemas.openxmlformats.org/officeDocument/2006/relationships/image" Target="../media/image9.png"/><Relationship Id="rId7" Type="http://schemas.openxmlformats.org/officeDocument/2006/relationships/image" Target="../media/image1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9.png"/><Relationship Id="rId3" Type="http://schemas.openxmlformats.org/officeDocument/2006/relationships/image" Target="../media/image23.png"/><Relationship Id="rId4" Type="http://schemas.openxmlformats.org/officeDocument/2006/relationships/image" Target="../media/image34.png"/><Relationship Id="rId5" Type="http://schemas.openxmlformats.org/officeDocument/2006/relationships/image" Target="../media/image3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2.png"/><Relationship Id="rId3" Type="http://schemas.openxmlformats.org/officeDocument/2006/relationships/image" Target="../media/image3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2.png"/><Relationship Id="rId4" Type="http://schemas.openxmlformats.org/officeDocument/2006/relationships/image" Target="../media/image33.png"/><Relationship Id="rId5" Type="http://schemas.openxmlformats.org/officeDocument/2006/relationships/image" Target="../media/image27.png"/><Relationship Id="rId6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2E2822"/>
        </a:solid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/home/claude/pptx_build/icons/title_wind.png" id="16" name="Google Shape;16;p3"/>
          <p:cNvPicPr preferRelativeResize="0"/>
          <p:nvPr/>
        </p:nvPicPr>
        <p:blipFill rotWithShape="1">
          <a:blip r:embed="rId3">
            <a:alphaModFix amt="10000"/>
          </a:blip>
          <a:srcRect b="0" l="0" r="0" t="0"/>
          <a:stretch/>
        </p:blipFill>
        <p:spPr>
          <a:xfrm>
            <a:off x="7863840" y="1463040"/>
            <a:ext cx="4754880" cy="4754880"/>
          </a:xfrm>
          <a:prstGeom prst="rect">
            <a:avLst/>
          </a:prstGeom>
          <a:noFill/>
          <a:ln>
            <a:noFill/>
          </a:ln>
        </p:spPr>
      </p:pic>
      <p:sp>
        <p:nvSpPr>
          <p:cNvPr id="17" name="Google Shape;17;p3"/>
          <p:cNvSpPr txBox="1"/>
          <p:nvPr/>
        </p:nvSpPr>
        <p:spPr>
          <a:xfrm>
            <a:off x="822960" y="1965960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84800"/>
              </a:buClr>
              <a:buSzPts val="1400"/>
              <a:buFont typeface="Calibri"/>
              <a:buNone/>
            </a:pPr>
            <a:r>
              <a:rPr b="1" i="0" lang="en-US" sz="1550" u="none" cap="none" strike="noStrike">
                <a:solidFill>
                  <a:srgbClr val="B84800"/>
                </a:solidFill>
                <a:latin typeface="Calibri"/>
                <a:ea typeface="Calibri"/>
                <a:cs typeface="Calibri"/>
                <a:sym typeface="Calibri"/>
              </a:rPr>
              <a:t>CIENCIA CIUDADANA AMBIENTAL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3"/>
          <p:cNvSpPr txBox="1"/>
          <p:nvPr/>
        </p:nvSpPr>
        <p:spPr>
          <a:xfrm>
            <a:off x="822960" y="2331720"/>
            <a:ext cx="896112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Calibri"/>
              <a:buNone/>
            </a:pPr>
            <a:r>
              <a:rPr b="1" i="0" lang="en-US" sz="4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Escuelas de Saladillo en acción por un aire limpio</a:t>
            </a:r>
            <a:endParaRPr b="0" i="0" sz="4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19;p3"/>
          <p:cNvSpPr txBox="1"/>
          <p:nvPr/>
        </p:nvSpPr>
        <p:spPr>
          <a:xfrm>
            <a:off x="822960" y="3794760"/>
            <a:ext cx="768096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E8DFD6"/>
              </a:buClr>
              <a:buSzPts val="1700"/>
              <a:buFont typeface="Calibri"/>
              <a:buNone/>
            </a:pPr>
            <a:r>
              <a:rPr b="0" i="0" lang="en-US" sz="1800" u="none" cap="none" strike="noStrike">
                <a:solidFill>
                  <a:srgbClr val="E8DFD6"/>
                </a:solidFill>
                <a:latin typeface="Calibri"/>
                <a:ea typeface="Calibri"/>
                <a:cs typeface="Calibri"/>
                <a:sym typeface="Calibri"/>
              </a:rPr>
              <a:t>Sensores de bajo costo para el monitoreo ambiental y la Educación Ambiental Integral en instituciones educativas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" name="Google Shape;20;p3"/>
          <p:cNvSpPr txBox="1"/>
          <p:nvPr/>
        </p:nvSpPr>
        <p:spPr>
          <a:xfrm>
            <a:off x="822960" y="5623560"/>
            <a:ext cx="9601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4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Ing. Luciano Lamaita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" name="Google Shape;21;p3"/>
          <p:cNvSpPr txBox="1"/>
          <p:nvPr/>
        </p:nvSpPr>
        <p:spPr>
          <a:xfrm>
            <a:off x="822960" y="5943600"/>
            <a:ext cx="9601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9BEB2"/>
              </a:buClr>
              <a:buSzPts val="1200"/>
              <a:buFont typeface="Calibri"/>
              <a:buNone/>
            </a:pPr>
            <a:r>
              <a:rPr b="0" i="0" lang="en-US" sz="1350" u="none" cap="none" strike="noStrike">
                <a:solidFill>
                  <a:srgbClr val="C9BEB2"/>
                </a:solidFill>
                <a:latin typeface="Calibri"/>
                <a:ea typeface="Calibri"/>
                <a:cs typeface="Calibri"/>
                <a:sym typeface="Calibri"/>
              </a:rPr>
              <a:t>agosto 2026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7F2"/>
        </a:solidFill>
      </p:bgPr>
    </p:bg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4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9B3D0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ptx_build/icons/problema.png" id="28" name="Google Shape;28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85800" y="640080"/>
            <a:ext cx="292608" cy="292608"/>
          </a:xfrm>
          <a:prstGeom prst="rect">
            <a:avLst/>
          </a:prstGeom>
          <a:noFill/>
          <a:ln>
            <a:noFill/>
          </a:ln>
        </p:spPr>
      </p:pic>
      <p:sp>
        <p:nvSpPr>
          <p:cNvPr id="29" name="Google Shape;29;p4"/>
          <p:cNvSpPr txBox="1"/>
          <p:nvPr/>
        </p:nvSpPr>
        <p:spPr>
          <a:xfrm>
            <a:off x="1325880" y="457200"/>
            <a:ext cx="102412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A1D12"/>
              </a:buClr>
              <a:buSzPts val="2600"/>
              <a:buFont typeface="Calibri"/>
              <a:buNone/>
            </a:pPr>
            <a:r>
              <a:rPr b="1" i="0" lang="en-US" sz="2600" u="none" cap="none" strike="noStrike">
                <a:solidFill>
                  <a:srgbClr val="2A1D12"/>
                </a:solidFill>
                <a:latin typeface="Calibri"/>
                <a:ea typeface="Calibri"/>
                <a:cs typeface="Calibri"/>
                <a:sym typeface="Calibri"/>
              </a:rPr>
              <a:t>El aire y el agua pueden estar contaminados sin que se note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" name="Google Shape;30;p4"/>
          <p:cNvSpPr txBox="1"/>
          <p:nvPr/>
        </p:nvSpPr>
        <p:spPr>
          <a:xfrm>
            <a:off x="914400" y="1691640"/>
            <a:ext cx="6492240" cy="4206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241300" lvl="0" marL="228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2A1D12"/>
              </a:buClr>
              <a:buSzPts val="1750"/>
              <a:buFont typeface="Calibri"/>
              <a:buChar char="•"/>
            </a:pPr>
            <a:r>
              <a:rPr b="0" i="0" lang="en-US" sz="1850" u="none" cap="none" strike="noStrike">
                <a:solidFill>
                  <a:srgbClr val="2A1D12"/>
                </a:solidFill>
                <a:latin typeface="Calibri"/>
                <a:ea typeface="Calibri"/>
                <a:cs typeface="Calibri"/>
                <a:sym typeface="Calibri"/>
              </a:rPr>
              <a:t>No existen datos ambientales locales y en tiempo real en los distritos de la región y mucho menos dentro del ámbito escolar.</a:t>
            </a:r>
            <a:endParaRPr b="0" i="0" sz="1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41300" lvl="0" marL="228600" marR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Clr>
                <a:srgbClr val="2A1D12"/>
              </a:buClr>
              <a:buSzPts val="1750"/>
              <a:buFont typeface="Calibri"/>
              <a:buChar char="•"/>
            </a:pPr>
            <a:r>
              <a:rPr b="0" i="0" lang="en-US" sz="1850" u="none" cap="none" strike="noStrike">
                <a:solidFill>
                  <a:srgbClr val="2A1D12"/>
                </a:solidFill>
                <a:latin typeface="Calibri"/>
                <a:ea typeface="Calibri"/>
                <a:cs typeface="Calibri"/>
                <a:sym typeface="Calibri"/>
              </a:rPr>
              <a:t>La ventilación de las aulas (CO₂) casi nunca se mide, pese a que durante las etapas del ASPO (y post pandemia) se implementó el programa Buenos Aires en las Escuelas.</a:t>
            </a:r>
            <a:endParaRPr b="0" i="0" sz="1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41300" lvl="0" marL="228600" marR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Clr>
                <a:srgbClr val="2A1D12"/>
              </a:buClr>
              <a:buSzPts val="1750"/>
              <a:buFont typeface="Calibri"/>
              <a:buChar char="•"/>
            </a:pPr>
            <a:r>
              <a:rPr b="0" i="0" lang="en-US" sz="1850" u="none" cap="none" strike="noStrike">
                <a:solidFill>
                  <a:srgbClr val="2A1D12"/>
                </a:solidFill>
                <a:latin typeface="Calibri"/>
                <a:ea typeface="Calibri"/>
                <a:cs typeface="Calibri"/>
                <a:sym typeface="Calibri"/>
              </a:rPr>
              <a:t>Las escuelas rurales y urbanas de Saladillo y la </a:t>
            </a:r>
            <a:r>
              <a:rPr lang="en-US" sz="1850">
                <a:solidFill>
                  <a:srgbClr val="2A1D12"/>
                </a:solidFill>
                <a:latin typeface="Calibri"/>
                <a:ea typeface="Calibri"/>
                <a:cs typeface="Calibri"/>
                <a:sym typeface="Calibri"/>
              </a:rPr>
              <a:t>región</a:t>
            </a:r>
            <a:r>
              <a:rPr b="0" i="0" lang="en-US" sz="1850" u="none" cap="none" strike="noStrike">
                <a:solidFill>
                  <a:srgbClr val="2A1D12"/>
                </a:solidFill>
                <a:latin typeface="Calibri"/>
                <a:ea typeface="Calibri"/>
                <a:cs typeface="Calibri"/>
                <a:sym typeface="Calibri"/>
              </a:rPr>
              <a:t> son “puntos ciegos” de monitoreo ambiental.</a:t>
            </a:r>
            <a:endParaRPr b="0" i="0" sz="1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41300" lvl="0" marL="228600" marR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Clr>
                <a:srgbClr val="2A1D12"/>
              </a:buClr>
              <a:buSzPts val="1750"/>
              <a:buFont typeface="Calibri"/>
              <a:buChar char="•"/>
            </a:pPr>
            <a:r>
              <a:rPr b="0" i="0" lang="en-US" sz="1850" u="none" cap="none" strike="noStrike">
                <a:solidFill>
                  <a:srgbClr val="2A1D12"/>
                </a:solidFill>
                <a:latin typeface="Calibri"/>
                <a:ea typeface="Calibri"/>
                <a:cs typeface="Calibri"/>
                <a:sym typeface="Calibri"/>
              </a:rPr>
              <a:t>Sin datos propios, es difícil construir política pública local: primero hay que medir para poder decidir.</a:t>
            </a:r>
            <a:endParaRPr b="0" i="0" sz="1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" name="Google Shape;31;p4"/>
          <p:cNvSpPr/>
          <p:nvPr/>
        </p:nvSpPr>
        <p:spPr>
          <a:xfrm>
            <a:off x="7863840" y="1737360"/>
            <a:ext cx="3703320" cy="4023360"/>
          </a:xfrm>
          <a:prstGeom prst="roundRect">
            <a:avLst>
              <a:gd fmla="val 2963" name="adj"/>
            </a:avLst>
          </a:prstGeom>
          <a:solidFill>
            <a:srgbClr val="F0EBE2"/>
          </a:solidFill>
          <a:ln>
            <a:noFill/>
          </a:ln>
          <a:effectLst>
            <a:outerShdw blurRad="127000" rotWithShape="0" algn="bl" dir="5400000" dist="38100">
              <a:srgbClr val="2A1D12">
                <a:alpha val="1803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32" name="Google Shape;32;p4"/>
          <p:cNvSpPr txBox="1"/>
          <p:nvPr/>
        </p:nvSpPr>
        <p:spPr>
          <a:xfrm>
            <a:off x="8138160" y="2011680"/>
            <a:ext cx="31546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A7A6A"/>
              </a:buClr>
              <a:buSzPts val="1100"/>
              <a:buFont typeface="Calibri"/>
              <a:buNone/>
            </a:pPr>
            <a:r>
              <a:rPr b="1" i="0" lang="en-US" sz="1250" u="none" cap="none" strike="noStrike">
                <a:solidFill>
                  <a:srgbClr val="8A7A6A"/>
                </a:solidFill>
                <a:latin typeface="Calibri"/>
                <a:ea typeface="Calibri"/>
                <a:cs typeface="Calibri"/>
                <a:sym typeface="Calibri"/>
              </a:rPr>
              <a:t>HOY, EN SALADILLO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" name="Google Shape;33;p4"/>
          <p:cNvSpPr txBox="1"/>
          <p:nvPr/>
        </p:nvSpPr>
        <p:spPr>
          <a:xfrm>
            <a:off x="8138160" y="2331720"/>
            <a:ext cx="3154680" cy="118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B3D00"/>
              </a:buClr>
              <a:buSzPts val="6800"/>
              <a:buFont typeface="JetBrains Mono"/>
              <a:buNone/>
            </a:pPr>
            <a:r>
              <a:rPr b="1" i="0" lang="en-US" sz="6800" u="none" cap="none" strike="noStrike">
                <a:solidFill>
                  <a:srgbClr val="9B3D0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</a:t>
            </a:r>
            <a:endParaRPr b="0" i="0" sz="6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" name="Google Shape;34;p4"/>
          <p:cNvSpPr txBox="1"/>
          <p:nvPr/>
        </p:nvSpPr>
        <p:spPr>
          <a:xfrm>
            <a:off x="8138160" y="3520440"/>
            <a:ext cx="315468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2A1D12"/>
              </a:buClr>
              <a:buSzPts val="1350"/>
              <a:buFont typeface="Calibri"/>
              <a:buNone/>
            </a:pPr>
            <a:r>
              <a:rPr b="0" i="0" lang="en-US" sz="1500" u="none" cap="none" strike="noStrike">
                <a:solidFill>
                  <a:srgbClr val="2A1D12"/>
                </a:solidFill>
                <a:latin typeface="Calibri"/>
                <a:ea typeface="Calibri"/>
                <a:cs typeface="Calibri"/>
                <a:sym typeface="Calibri"/>
              </a:rPr>
              <a:t>escuelas con calidad de aire monitoreada en tiempo real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35" name="Google Shape;35;p4"/>
          <p:cNvCxnSpPr/>
          <p:nvPr/>
        </p:nvCxnSpPr>
        <p:spPr>
          <a:xfrm>
            <a:off x="8138160" y="4709160"/>
            <a:ext cx="3154680" cy="0"/>
          </a:xfrm>
          <a:prstGeom prst="straightConnector1">
            <a:avLst/>
          </a:prstGeom>
          <a:noFill/>
          <a:ln cap="flat" cmpd="sng" w="12700">
            <a:solidFill>
              <a:srgbClr val="DDD2C4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6" name="Google Shape;36;p4"/>
          <p:cNvSpPr txBox="1"/>
          <p:nvPr/>
        </p:nvSpPr>
        <p:spPr>
          <a:xfrm>
            <a:off x="8138160" y="4892040"/>
            <a:ext cx="315468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8A7A6A"/>
              </a:buClr>
              <a:buSzPts val="1300"/>
              <a:buFont typeface="Calibri"/>
              <a:buNone/>
            </a:pPr>
            <a:r>
              <a:rPr b="0" i="1" lang="en-US" sz="1450" u="none" cap="none" strike="noStrike">
                <a:solidFill>
                  <a:srgbClr val="8A7A6A"/>
                </a:solidFill>
                <a:latin typeface="Calibri"/>
                <a:ea typeface="Calibri"/>
                <a:cs typeface="Calibri"/>
                <a:sym typeface="Calibri"/>
              </a:rPr>
              <a:t>Este proyecto instala los primeros sensores propios en escuelas del distrito.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" name="Google Shape;37;p4"/>
          <p:cNvSpPr txBox="1"/>
          <p:nvPr/>
        </p:nvSpPr>
        <p:spPr>
          <a:xfrm>
            <a:off x="11457432" y="6400800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8A7A6A"/>
              </a:buClr>
              <a:buSzPts val="1000"/>
              <a:buFont typeface="Calibri"/>
              <a:buNone/>
            </a:pPr>
            <a:r>
              <a:rPr b="0" i="0" lang="en-US" sz="1250" u="none" cap="none" strike="noStrike">
                <a:solidFill>
                  <a:srgbClr val="8A7A6A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" name="Google Shape;38;p4"/>
          <p:cNvSpPr txBox="1"/>
          <p:nvPr/>
        </p:nvSpPr>
        <p:spPr>
          <a:xfrm>
            <a:off x="548640" y="6400800"/>
            <a:ext cx="4572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A7A6A"/>
              </a:buClr>
              <a:buSzPts val="1000"/>
              <a:buFont typeface="Calibri"/>
              <a:buNone/>
            </a:pPr>
            <a:r>
              <a:rPr b="0" i="0" lang="en-US" sz="1250" u="none" cap="none" strike="noStrike">
                <a:solidFill>
                  <a:srgbClr val="8A7A6A"/>
                </a:solidFill>
                <a:latin typeface="Calibri"/>
                <a:ea typeface="Calibri"/>
                <a:cs typeface="Calibri"/>
                <a:sym typeface="Calibri"/>
              </a:rPr>
              <a:t>Ciencia Ciudadana Ambiental · Saladillo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7F2"/>
        </a:solidFill>
      </p:bgPr>
    </p:bg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5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9B3D0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ptx_build/icons/trayectoria.png" id="45" name="Google Shape;45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85800" y="640080"/>
            <a:ext cx="292608" cy="292608"/>
          </a:xfrm>
          <a:prstGeom prst="rect">
            <a:avLst/>
          </a:prstGeom>
          <a:noFill/>
          <a:ln>
            <a:noFill/>
          </a:ln>
        </p:spPr>
      </p:pic>
      <p:sp>
        <p:nvSpPr>
          <p:cNvPr id="46" name="Google Shape;46;p5"/>
          <p:cNvSpPr txBox="1"/>
          <p:nvPr/>
        </p:nvSpPr>
        <p:spPr>
          <a:xfrm>
            <a:off x="1325880" y="457200"/>
            <a:ext cx="102412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A1D12"/>
              </a:buClr>
              <a:buSzPts val="2300"/>
              <a:buFont typeface="Calibri"/>
              <a:buNone/>
            </a:pPr>
            <a:r>
              <a:rPr b="1" i="0" lang="en-US" sz="2300" u="none" cap="none" strike="noStrike">
                <a:solidFill>
                  <a:srgbClr val="2A1D12"/>
                </a:solidFill>
                <a:latin typeface="Calibri"/>
                <a:ea typeface="Calibri"/>
                <a:cs typeface="Calibri"/>
                <a:sym typeface="Calibri"/>
              </a:rPr>
              <a:t>De un programa internacional a una red propia en Saladillo</a:t>
            </a:r>
            <a:endParaRPr b="0" i="0" sz="2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" name="Google Shape;47;p5"/>
          <p:cNvSpPr txBox="1"/>
          <p:nvPr/>
        </p:nvSpPr>
        <p:spPr>
          <a:xfrm>
            <a:off x="914400" y="1691640"/>
            <a:ext cx="60350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B3D00"/>
              </a:buClr>
              <a:buSzPts val="1200"/>
              <a:buFont typeface="Calibri"/>
              <a:buNone/>
            </a:pPr>
            <a:r>
              <a:rPr b="1" i="0" lang="en-US" u="none" cap="none" strike="noStrike">
                <a:solidFill>
                  <a:srgbClr val="9B3D00"/>
                </a:solidFill>
                <a:latin typeface="Calibri"/>
                <a:ea typeface="Calibri"/>
                <a:cs typeface="Calibri"/>
                <a:sym typeface="Calibri"/>
              </a:rPr>
              <a:t>ANTECEDENTES (2023–2024)</a:t>
            </a:r>
            <a:endParaRPr b="0" i="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" name="Google Shape;48;p5"/>
          <p:cNvSpPr txBox="1"/>
          <p:nvPr/>
        </p:nvSpPr>
        <p:spPr>
          <a:xfrm>
            <a:off x="914400" y="2057400"/>
            <a:ext cx="6035040" cy="3749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-254000" lvl="0" marL="22860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2A1D12"/>
              </a:buClr>
              <a:buSzPts val="1800"/>
              <a:buFont typeface="Calibri"/>
              <a:buChar char="•"/>
            </a:pPr>
            <a:r>
              <a:rPr b="0" i="0" lang="en-US" sz="1900" u="none" cap="none" strike="noStrike">
                <a:solidFill>
                  <a:srgbClr val="2A1D12"/>
                </a:solidFill>
                <a:latin typeface="Calibri"/>
                <a:ea typeface="Calibri"/>
                <a:cs typeface="Calibri"/>
                <a:sym typeface="Calibri"/>
              </a:rPr>
              <a:t>El proyecto se apoya en el Programa de Embajadores Comunitarios de OpenAQ (2023, Argentina), que capacita en monitoreo, transparencia y análisis de datos de calidad del aire.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54000" lvl="0" marL="228600" marR="0" rtl="0" algn="l">
              <a:lnSpc>
                <a:spcPct val="120000"/>
              </a:lnSpc>
              <a:spcBef>
                <a:spcPts val="1200"/>
              </a:spcBef>
              <a:spcAft>
                <a:spcPts val="0"/>
              </a:spcAft>
              <a:buClr>
                <a:srgbClr val="2A1D12"/>
              </a:buClr>
              <a:buSzPts val="1800"/>
              <a:buFont typeface="Calibri"/>
              <a:buChar char="•"/>
            </a:pPr>
            <a:r>
              <a:rPr b="0" i="0" lang="en-US" sz="1900" u="none" cap="none" strike="noStrike">
                <a:solidFill>
                  <a:srgbClr val="2A1D12"/>
                </a:solidFill>
                <a:latin typeface="Calibri"/>
                <a:ea typeface="Calibri"/>
                <a:cs typeface="Calibri"/>
                <a:sym typeface="Calibri"/>
              </a:rPr>
              <a:t>Ya hay monitores desplegados: PurpleAir Flex (4 unidades, donadas por PurpleAir Collective 2024), Clarity Node-S (EP N°15, zona rural), AirGradient Open Air (Saladillo urbano) y Atmotube Pro (mediciones móviles), con datos públicos en OpenAQ Explorer desde 2023.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54000" lvl="0" marL="228600" marR="0" rtl="0" algn="l">
              <a:lnSpc>
                <a:spcPct val="120000"/>
              </a:lnSpc>
              <a:spcBef>
                <a:spcPts val="1200"/>
              </a:spcBef>
              <a:spcAft>
                <a:spcPts val="0"/>
              </a:spcAft>
              <a:buClr>
                <a:srgbClr val="2A1D12"/>
              </a:buClr>
              <a:buSzPts val="1800"/>
              <a:buFont typeface="Calibri"/>
              <a:buChar char="•"/>
            </a:pPr>
            <a:r>
              <a:rPr b="0" i="0" lang="en-US" sz="1900" u="none" cap="none" strike="noStrike">
                <a:solidFill>
                  <a:srgbClr val="2A1D12"/>
                </a:solidFill>
                <a:latin typeface="Calibri"/>
                <a:ea typeface="Calibri"/>
                <a:cs typeface="Calibri"/>
                <a:sym typeface="Calibri"/>
              </a:rPr>
              <a:t>Se enmarca también en el Grupo de Trabajo Air Quality de la ECSA (European Citizen Science Association).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" name="Google Shape;49;p5"/>
          <p:cNvSpPr/>
          <p:nvPr/>
        </p:nvSpPr>
        <p:spPr>
          <a:xfrm>
            <a:off x="7360920" y="1691640"/>
            <a:ext cx="4206240" cy="4343400"/>
          </a:xfrm>
          <a:prstGeom prst="roundRect">
            <a:avLst>
              <a:gd fmla="val 2609" name="adj"/>
            </a:avLst>
          </a:prstGeom>
          <a:solidFill>
            <a:srgbClr val="2E282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50" name="Google Shape;50;p5"/>
          <p:cNvSpPr txBox="1"/>
          <p:nvPr/>
        </p:nvSpPr>
        <p:spPr>
          <a:xfrm>
            <a:off x="7680960" y="1965960"/>
            <a:ext cx="3566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84800"/>
              </a:buClr>
              <a:buSzPts val="1100"/>
              <a:buFont typeface="Calibri"/>
              <a:buNone/>
            </a:pPr>
            <a:r>
              <a:rPr b="1" i="0" lang="en-US" sz="1250" u="none" cap="none" strike="noStrike">
                <a:solidFill>
                  <a:srgbClr val="B84800"/>
                </a:solidFill>
                <a:latin typeface="Calibri"/>
                <a:ea typeface="Calibri"/>
                <a:cs typeface="Calibri"/>
                <a:sym typeface="Calibri"/>
              </a:rPr>
              <a:t>UN ANTECEDENTE DE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5"/>
          <p:cNvSpPr txBox="1"/>
          <p:nvPr/>
        </p:nvSpPr>
        <p:spPr>
          <a:xfrm>
            <a:off x="7680960" y="2240280"/>
            <a:ext cx="35661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8DFD6"/>
              </a:buClr>
              <a:buSzPts val="1400"/>
              <a:buFont typeface="Calibri"/>
              <a:buNone/>
            </a:pPr>
            <a:r>
              <a:rPr b="0" i="0" lang="en-US" sz="1550" u="none" cap="none" strike="noStrike">
                <a:solidFill>
                  <a:srgbClr val="E8DFD6"/>
                </a:solidFill>
                <a:latin typeface="Calibri"/>
                <a:ea typeface="Calibri"/>
                <a:cs typeface="Calibri"/>
                <a:sym typeface="Calibri"/>
              </a:rPr>
              <a:t>colaboración institucional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" name="Google Shape;52;p5"/>
          <p:cNvSpPr txBox="1"/>
          <p:nvPr/>
        </p:nvSpPr>
        <p:spPr>
          <a:xfrm>
            <a:off x="7680960" y="2697480"/>
            <a:ext cx="356616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0" i="0" lang="en-US" sz="14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 través del programa OpenAQ, AirGradient co-localizó equipos junto a instrumentos de referencia de ACUMAR para contrastar calibraciones entre sensores de bajo costo y equipos certificados.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53" name="Google Shape;53;p5"/>
          <p:cNvCxnSpPr/>
          <p:nvPr/>
        </p:nvCxnSpPr>
        <p:spPr>
          <a:xfrm>
            <a:off x="7680960" y="4251960"/>
            <a:ext cx="3566160" cy="0"/>
          </a:xfrm>
          <a:prstGeom prst="straightConnector1">
            <a:avLst/>
          </a:prstGeom>
          <a:noFill/>
          <a:ln cap="flat" cmpd="sng" w="12700">
            <a:solidFill>
              <a:srgbClr val="534A3D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4" name="Google Shape;54;p5"/>
          <p:cNvSpPr txBox="1"/>
          <p:nvPr/>
        </p:nvSpPr>
        <p:spPr>
          <a:xfrm>
            <a:off x="7680960" y="4434840"/>
            <a:ext cx="356616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C9BEB2"/>
              </a:buClr>
              <a:buSzPts val="1250"/>
              <a:buFont typeface="Calibri"/>
              <a:buNone/>
            </a:pPr>
            <a:r>
              <a:rPr b="0" i="1" lang="en-US" sz="1400" u="none" cap="none" strike="noStrike">
                <a:solidFill>
                  <a:srgbClr val="C9BEB2"/>
                </a:solidFill>
                <a:latin typeface="Calibri"/>
                <a:ea typeface="Calibri"/>
                <a:cs typeface="Calibri"/>
                <a:sym typeface="Calibri"/>
              </a:rPr>
              <a:t>Es el mismo esquema que se busca replicar con el Ministerio de Ambiente provincial.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" name="Google Shape;55;p5"/>
          <p:cNvSpPr txBox="1"/>
          <p:nvPr/>
        </p:nvSpPr>
        <p:spPr>
          <a:xfrm>
            <a:off x="11457432" y="6400800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8A7A6A"/>
              </a:buClr>
              <a:buSzPts val="1000"/>
              <a:buFont typeface="Calibri"/>
              <a:buNone/>
            </a:pPr>
            <a:r>
              <a:rPr b="0" i="0" lang="en-US" sz="1250" u="none" cap="none" strike="noStrike">
                <a:solidFill>
                  <a:srgbClr val="8A7A6A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" name="Google Shape;56;p5"/>
          <p:cNvSpPr txBox="1"/>
          <p:nvPr/>
        </p:nvSpPr>
        <p:spPr>
          <a:xfrm>
            <a:off x="548640" y="6400800"/>
            <a:ext cx="4572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A7A6A"/>
              </a:buClr>
              <a:buSzPts val="1000"/>
              <a:buFont typeface="Calibri"/>
              <a:buNone/>
            </a:pPr>
            <a:r>
              <a:rPr b="0" i="0" lang="en-US" sz="1250" u="none" cap="none" strike="noStrike">
                <a:solidFill>
                  <a:srgbClr val="8A7A6A"/>
                </a:solidFill>
                <a:latin typeface="Calibri"/>
                <a:ea typeface="Calibri"/>
                <a:cs typeface="Calibri"/>
                <a:sym typeface="Calibri"/>
              </a:rPr>
              <a:t>Ciencia Ciudadana Ambiental · Saladillo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7F2"/>
        </a:solidFill>
      </p:bgPr>
    </p:bg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6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9B3D0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ptx_build/icons/propuesta.png" id="63" name="Google Shape;63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85800" y="640080"/>
            <a:ext cx="292608" cy="292608"/>
          </a:xfrm>
          <a:prstGeom prst="rect">
            <a:avLst/>
          </a:prstGeom>
          <a:noFill/>
          <a:ln>
            <a:noFill/>
          </a:ln>
        </p:spPr>
      </p:pic>
      <p:sp>
        <p:nvSpPr>
          <p:cNvPr id="64" name="Google Shape;64;p6"/>
          <p:cNvSpPr txBox="1"/>
          <p:nvPr/>
        </p:nvSpPr>
        <p:spPr>
          <a:xfrm>
            <a:off x="1325880" y="457200"/>
            <a:ext cx="102412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A1D12"/>
              </a:buClr>
              <a:buSzPts val="2600"/>
              <a:buFont typeface="Calibri"/>
              <a:buNone/>
            </a:pPr>
            <a:r>
              <a:rPr b="1" i="0" lang="en-US" sz="2600" u="none" cap="none" strike="noStrike">
                <a:solidFill>
                  <a:srgbClr val="2A1D12"/>
                </a:solidFill>
                <a:latin typeface="Calibri"/>
                <a:ea typeface="Calibri"/>
                <a:cs typeface="Calibri"/>
                <a:sym typeface="Calibri"/>
              </a:rPr>
              <a:t>La propuesta: sensores de bajo costo en las escuelas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" name="Google Shape;65;p6"/>
          <p:cNvSpPr txBox="1"/>
          <p:nvPr/>
        </p:nvSpPr>
        <p:spPr>
          <a:xfrm>
            <a:off x="914400" y="1691640"/>
            <a:ext cx="60350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B3D00"/>
              </a:buClr>
              <a:buSzPts val="1300"/>
              <a:buFont typeface="Calibri"/>
              <a:buNone/>
            </a:pPr>
            <a:r>
              <a:rPr b="1" i="0" lang="en-US" sz="1600" u="none" cap="none" strike="noStrike">
                <a:solidFill>
                  <a:srgbClr val="9B3D00"/>
                </a:solidFill>
                <a:latin typeface="Calibri"/>
                <a:ea typeface="Calibri"/>
                <a:cs typeface="Calibri"/>
                <a:sym typeface="Calibri"/>
              </a:rPr>
              <a:t>Objetivo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" name="Google Shape;66;p6"/>
          <p:cNvSpPr txBox="1"/>
          <p:nvPr/>
        </p:nvSpPr>
        <p:spPr>
          <a:xfrm>
            <a:off x="914400" y="2011680"/>
            <a:ext cx="6035040" cy="118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2A1D12"/>
              </a:buClr>
              <a:buSzPts val="1550"/>
              <a:buFont typeface="Calibri"/>
              <a:buNone/>
            </a:pPr>
            <a:r>
              <a:rPr b="0" i="0" lang="en-US" sz="1850" u="none" cap="none" strike="noStrike">
                <a:solidFill>
                  <a:srgbClr val="2A1D12"/>
                </a:solidFill>
                <a:latin typeface="Calibri"/>
                <a:ea typeface="Calibri"/>
                <a:cs typeface="Calibri"/>
                <a:sym typeface="Calibri"/>
              </a:rPr>
              <a:t>Evaluar material particulado (PM1, PM2.5, PM10), compuestos orgánicos volátiles, humedad, temperatura, presión y CO₂ en escuelas urbanas y rurales de la provincia, dentro y fuera del aula.</a:t>
            </a:r>
            <a:endParaRPr b="0" i="0" sz="1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" name="Google Shape;67;p6"/>
          <p:cNvSpPr txBox="1"/>
          <p:nvPr/>
        </p:nvSpPr>
        <p:spPr>
          <a:xfrm>
            <a:off x="914400" y="3429000"/>
            <a:ext cx="60350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B3D00"/>
              </a:buClr>
              <a:buSzPts val="1300"/>
              <a:buFont typeface="Calibri"/>
              <a:buNone/>
            </a:pPr>
            <a:r>
              <a:rPr b="1" i="0" lang="en-US" sz="1600" u="none" cap="none" strike="noStrike">
                <a:solidFill>
                  <a:srgbClr val="9B3D00"/>
                </a:solidFill>
                <a:latin typeface="Calibri"/>
                <a:ea typeface="Calibri"/>
                <a:cs typeface="Calibri"/>
                <a:sym typeface="Calibri"/>
              </a:rPr>
              <a:t>Cómo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" name="Google Shape;68;p6"/>
          <p:cNvSpPr txBox="1"/>
          <p:nvPr/>
        </p:nvSpPr>
        <p:spPr>
          <a:xfrm>
            <a:off x="914400" y="3749040"/>
            <a:ext cx="6035040" cy="21031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-241300" lvl="0" marL="228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2A1D12"/>
              </a:buClr>
              <a:buSzPts val="1700"/>
              <a:buFont typeface="Calibri"/>
              <a:buChar char="•"/>
            </a:pPr>
            <a:r>
              <a:rPr b="0" i="0" lang="en-US" sz="1800" u="none" cap="none" strike="noStrike">
                <a:solidFill>
                  <a:srgbClr val="2A1D12"/>
                </a:solidFill>
                <a:latin typeface="Calibri"/>
                <a:ea typeface="Calibri"/>
                <a:cs typeface="Calibri"/>
                <a:sym typeface="Calibri"/>
              </a:rPr>
              <a:t>Equipos out-of-the-box (PurpleAir, AirGradient, Clarity) y prototipos DIY con hardware abierto.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41300" lvl="0" marL="228600" marR="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2A1D12"/>
              </a:buClr>
              <a:buSzPts val="1700"/>
              <a:buFont typeface="Calibri"/>
              <a:buChar char="•"/>
            </a:pPr>
            <a:r>
              <a:rPr b="0" i="0" lang="en-US" sz="1800" u="none" cap="none" strike="noStrike">
                <a:solidFill>
                  <a:srgbClr val="2A1D12"/>
                </a:solidFill>
                <a:latin typeface="Calibri"/>
                <a:ea typeface="Calibri"/>
                <a:cs typeface="Calibri"/>
                <a:sym typeface="Calibri"/>
              </a:rPr>
              <a:t>Instalación estratégica según ubicación, exposición y valor pedagógico del sitio.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41300" lvl="0" marL="228600" marR="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2A1D12"/>
              </a:buClr>
              <a:buSzPts val="1700"/>
              <a:buFont typeface="Calibri"/>
              <a:buChar char="•"/>
            </a:pPr>
            <a:r>
              <a:rPr b="0" i="0" lang="en-US" sz="1800" u="none" cap="none" strike="noStrike">
                <a:solidFill>
                  <a:srgbClr val="2A1D12"/>
                </a:solidFill>
                <a:latin typeface="Calibri"/>
                <a:ea typeface="Calibri"/>
                <a:cs typeface="Calibri"/>
                <a:sym typeface="Calibri"/>
              </a:rPr>
              <a:t>Datos publicados en tiempo real en un portal propio, abierto a la comunidad.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" name="Google Shape;69;p6"/>
          <p:cNvSpPr/>
          <p:nvPr/>
        </p:nvSpPr>
        <p:spPr>
          <a:xfrm>
            <a:off x="7360920" y="1623053"/>
            <a:ext cx="4206300" cy="4434900"/>
          </a:xfrm>
          <a:prstGeom prst="roundRect">
            <a:avLst>
              <a:gd fmla="val 2609" name="adj"/>
            </a:avLst>
          </a:prstGeom>
          <a:solidFill>
            <a:srgbClr val="2E282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70" name="Google Shape;70;p6"/>
          <p:cNvSpPr txBox="1"/>
          <p:nvPr/>
        </p:nvSpPr>
        <p:spPr>
          <a:xfrm>
            <a:off x="7680960" y="1947672"/>
            <a:ext cx="356616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84800"/>
              </a:buClr>
              <a:buSzPts val="1100"/>
              <a:buFont typeface="Calibri"/>
              <a:buNone/>
            </a:pPr>
            <a:r>
              <a:rPr b="1" i="0" lang="en-US" sz="1250" u="none" cap="none" strike="noStrike">
                <a:solidFill>
                  <a:srgbClr val="B84800"/>
                </a:solidFill>
                <a:latin typeface="Calibri"/>
                <a:ea typeface="Calibri"/>
                <a:cs typeface="Calibri"/>
                <a:sym typeface="Calibri"/>
              </a:rPr>
              <a:t>PARTE DE UNA RED INTERNACIONAL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" name="Google Shape;71;p6"/>
          <p:cNvSpPr txBox="1"/>
          <p:nvPr/>
        </p:nvSpPr>
        <p:spPr>
          <a:xfrm>
            <a:off x="7680960" y="2221992"/>
            <a:ext cx="35661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8DFD6"/>
              </a:buClr>
              <a:buSzPts val="1400"/>
              <a:buFont typeface="Calibri"/>
              <a:buNone/>
            </a:pPr>
            <a:r>
              <a:rPr b="0" i="0" lang="en-US" sz="1550" u="none" cap="none" strike="noStrike">
                <a:solidFill>
                  <a:srgbClr val="E8DFD6"/>
                </a:solidFill>
                <a:latin typeface="Calibri"/>
                <a:ea typeface="Calibri"/>
                <a:cs typeface="Calibri"/>
                <a:sym typeface="Calibri"/>
              </a:rPr>
              <a:t>de ciencia ciudadana ambiental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84" name="Google Shape;84;p6"/>
          <p:cNvCxnSpPr/>
          <p:nvPr/>
        </p:nvCxnSpPr>
        <p:spPr>
          <a:xfrm>
            <a:off x="7680960" y="5067953"/>
            <a:ext cx="3566160" cy="0"/>
          </a:xfrm>
          <a:prstGeom prst="straightConnector1">
            <a:avLst/>
          </a:prstGeom>
          <a:noFill/>
          <a:ln cap="flat" cmpd="sng" w="12700">
            <a:solidFill>
              <a:srgbClr val="534A3D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85" name="Google Shape;85;p6"/>
          <p:cNvSpPr txBox="1"/>
          <p:nvPr/>
        </p:nvSpPr>
        <p:spPr>
          <a:xfrm>
            <a:off x="7680960" y="5177953"/>
            <a:ext cx="3566160" cy="7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C9BEB2"/>
              </a:buClr>
              <a:buSzPts val="1000"/>
              <a:buFont typeface="Calibri"/>
              <a:buNone/>
            </a:pPr>
            <a:r>
              <a:rPr b="0" i="1" lang="en-US" sz="1250" u="none" cap="none" strike="noStrike">
                <a:solidFill>
                  <a:srgbClr val="C9BEB2"/>
                </a:solidFill>
                <a:latin typeface="Calibri"/>
                <a:ea typeface="Calibri"/>
                <a:cs typeface="Calibri"/>
                <a:sym typeface="Calibri"/>
              </a:rPr>
              <a:t>En el marco del Programa de Embajadores Comunitarios de OpenAQ (2023) y del Grupo de Trabajo Air Quality de la ECSA.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6"/>
          <p:cNvSpPr txBox="1"/>
          <p:nvPr/>
        </p:nvSpPr>
        <p:spPr>
          <a:xfrm>
            <a:off x="11457432" y="6400800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8A7A6A"/>
              </a:buClr>
              <a:buSzPts val="1000"/>
              <a:buFont typeface="Calibri"/>
              <a:buNone/>
            </a:pPr>
            <a:r>
              <a:rPr b="0" i="0" lang="en-US" sz="1250" u="none" cap="none" strike="noStrike">
                <a:solidFill>
                  <a:srgbClr val="8A7A6A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" name="Google Shape;87;p6"/>
          <p:cNvSpPr txBox="1"/>
          <p:nvPr/>
        </p:nvSpPr>
        <p:spPr>
          <a:xfrm>
            <a:off x="548640" y="6400800"/>
            <a:ext cx="4572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A7A6A"/>
              </a:buClr>
              <a:buSzPts val="1000"/>
              <a:buFont typeface="Calibri"/>
              <a:buNone/>
            </a:pPr>
            <a:r>
              <a:rPr b="0" i="0" lang="en-US" sz="1250" u="none" cap="none" strike="noStrike">
                <a:solidFill>
                  <a:srgbClr val="8A7A6A"/>
                </a:solidFill>
                <a:latin typeface="Calibri"/>
                <a:ea typeface="Calibri"/>
                <a:cs typeface="Calibri"/>
                <a:sym typeface="Calibri"/>
              </a:rPr>
              <a:t>Ciencia Ciudadana Ambiental · Saladillo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" name="Rounded Rectangle 87"/>
          <p:cNvSpPr/>
          <p:nvPr/>
        </p:nvSpPr>
        <p:spPr>
          <a:xfrm>
            <a:off x="7680990" y="2650000"/>
            <a:ext cx="1050000" cy="450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9" name="Picture 88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18797" y="2730000"/>
            <a:ext cx="574385" cy="290000"/>
          </a:xfrm>
          <a:prstGeom prst="rect">
            <a:avLst/>
          </a:prstGeom>
        </p:spPr>
      </p:pic>
      <p:sp>
        <p:nvSpPr>
          <p:cNvPr id="90" name="Rounded Rectangle 89"/>
          <p:cNvSpPr/>
          <p:nvPr/>
        </p:nvSpPr>
        <p:spPr>
          <a:xfrm>
            <a:off x="8939070" y="2650000"/>
            <a:ext cx="1050000" cy="450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1" name="Picture 9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00434" y="2730000"/>
            <a:ext cx="527272" cy="290000"/>
          </a:xfrm>
          <a:prstGeom prst="rect">
            <a:avLst/>
          </a:prstGeom>
        </p:spPr>
      </p:pic>
      <p:sp>
        <p:nvSpPr>
          <p:cNvPr id="92" name="Rounded Rectangle 91"/>
          <p:cNvSpPr/>
          <p:nvPr/>
        </p:nvSpPr>
        <p:spPr>
          <a:xfrm>
            <a:off x="10197150" y="2650000"/>
            <a:ext cx="1050000" cy="450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3" name="Picture 92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77150" y="2781056"/>
            <a:ext cx="889999" cy="187888"/>
          </a:xfrm>
          <a:prstGeom prst="rect">
            <a:avLst/>
          </a:prstGeom>
        </p:spPr>
      </p:pic>
      <p:sp>
        <p:nvSpPr>
          <p:cNvPr id="94" name="Oval 93"/>
          <p:cNvSpPr/>
          <p:nvPr/>
        </p:nvSpPr>
        <p:spPr>
          <a:xfrm>
            <a:off x="7830990" y="3550000"/>
            <a:ext cx="950000" cy="9500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5" name="Picture 94" descr="aire_ciudadano_clean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975990" y="3719750"/>
            <a:ext cx="660000" cy="610500"/>
          </a:xfrm>
          <a:prstGeom prst="rect">
            <a:avLst/>
          </a:prstGeom>
        </p:spPr>
      </p:pic>
      <p:sp>
        <p:nvSpPr>
          <p:cNvPr id="96" name="Oval 95"/>
          <p:cNvSpPr/>
          <p:nvPr/>
        </p:nvSpPr>
        <p:spPr>
          <a:xfrm>
            <a:off x="8989070" y="3550000"/>
            <a:ext cx="950000" cy="9500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7" name="Picture 96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80796" y="3695000"/>
            <a:ext cx="566548" cy="660000"/>
          </a:xfrm>
          <a:prstGeom prst="rect">
            <a:avLst/>
          </a:prstGeom>
        </p:spPr>
      </p:pic>
      <p:sp>
        <p:nvSpPr>
          <p:cNvPr id="98" name="Oval 97"/>
          <p:cNvSpPr/>
          <p:nvPr/>
        </p:nvSpPr>
        <p:spPr>
          <a:xfrm>
            <a:off x="10147150" y="3550000"/>
            <a:ext cx="950000" cy="9500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9" name="Picture 98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92150" y="3701111"/>
            <a:ext cx="660000" cy="647777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7F2"/>
        </a:solidFill>
      </p:bgPr>
    </p:bg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3" name="Google Shape;93;p7" title="slide5only05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1313" y="45725"/>
            <a:ext cx="12029384" cy="67665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7F2"/>
        </a:solidFill>
      </p:bgPr>
    </p:bg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8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9B3D0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ptx_build/icons/equipos.png" id="100" name="Google Shape;100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85800" y="640080"/>
            <a:ext cx="292608" cy="292608"/>
          </a:xfrm>
          <a:prstGeom prst="rect">
            <a:avLst/>
          </a:prstGeom>
          <a:noFill/>
          <a:ln>
            <a:noFill/>
          </a:ln>
        </p:spPr>
      </p:pic>
      <p:sp>
        <p:nvSpPr>
          <p:cNvPr id="101" name="Google Shape;101;p8"/>
          <p:cNvSpPr txBox="1"/>
          <p:nvPr/>
        </p:nvSpPr>
        <p:spPr>
          <a:xfrm>
            <a:off x="1325880" y="457200"/>
            <a:ext cx="102412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A1D12"/>
              </a:buClr>
              <a:buSzPts val="2700"/>
              <a:buFont typeface="Calibri"/>
              <a:buNone/>
            </a:pPr>
            <a:r>
              <a:rPr b="1" i="0" lang="en-US" sz="2700" u="none" cap="none" strike="noStrike">
                <a:solidFill>
                  <a:srgbClr val="2A1D12"/>
                </a:solidFill>
                <a:latin typeface="Calibri"/>
                <a:ea typeface="Calibri"/>
                <a:cs typeface="Calibri"/>
                <a:sym typeface="Calibri"/>
              </a:rPr>
              <a:t>Los equipos, en el terreno</a:t>
            </a:r>
            <a:endParaRPr b="0" i="0" sz="2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" name="Google Shape;102;p8"/>
          <p:cNvSpPr/>
          <p:nvPr/>
        </p:nvSpPr>
        <p:spPr>
          <a:xfrm>
            <a:off x="914400" y="1828800"/>
            <a:ext cx="3261665" cy="2743200"/>
          </a:xfrm>
          <a:prstGeom prst="roundRect">
            <a:avLst>
              <a:gd fmla="val 3333" name="adj"/>
            </a:avLst>
          </a:prstGeom>
          <a:solidFill>
            <a:srgbClr val="00000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ptx_build/assets/airgradient_deploy.jpg" id="103" name="Google Shape;103;p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14400" y="1977276"/>
            <a:ext cx="3261665" cy="2446249"/>
          </a:xfrm>
          <a:prstGeom prst="rect">
            <a:avLst/>
          </a:prstGeom>
          <a:noFill/>
          <a:ln>
            <a:noFill/>
          </a:ln>
        </p:spPr>
      </p:pic>
      <p:sp>
        <p:nvSpPr>
          <p:cNvPr id="104" name="Google Shape;104;p8"/>
          <p:cNvSpPr txBox="1"/>
          <p:nvPr/>
        </p:nvSpPr>
        <p:spPr>
          <a:xfrm>
            <a:off x="914400" y="4663440"/>
            <a:ext cx="3261665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8A7A6A"/>
              </a:buClr>
              <a:buSzPts val="1100"/>
              <a:buFont typeface="Calibri"/>
              <a:buNone/>
            </a:pPr>
            <a:r>
              <a:rPr b="0" i="1" lang="en-US" sz="1250" u="none" cap="none" strike="noStrike">
                <a:solidFill>
                  <a:srgbClr val="8A7A6A"/>
                </a:solidFill>
                <a:latin typeface="Calibri"/>
                <a:ea typeface="Calibri"/>
                <a:cs typeface="Calibri"/>
                <a:sym typeface="Calibri"/>
              </a:rPr>
              <a:t>AirGradient Open Air instalado — Programa OpenAQ, 2023.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" name="Google Shape;105;p8"/>
          <p:cNvSpPr/>
          <p:nvPr/>
        </p:nvSpPr>
        <p:spPr>
          <a:xfrm>
            <a:off x="4450385" y="1828800"/>
            <a:ext cx="3261600" cy="2743200"/>
          </a:xfrm>
          <a:prstGeom prst="roundRect">
            <a:avLst>
              <a:gd fmla="val 3333" name="adj"/>
            </a:avLst>
          </a:prstGeom>
          <a:solidFill>
            <a:srgbClr val="000000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106" name="Google Shape;106;p8"/>
          <p:cNvSpPr txBox="1"/>
          <p:nvPr/>
        </p:nvSpPr>
        <p:spPr>
          <a:xfrm>
            <a:off x="4450385" y="4663440"/>
            <a:ext cx="3261665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8A7A6A"/>
              </a:buClr>
              <a:buSzPts val="1100"/>
              <a:buFont typeface="Calibri"/>
              <a:buNone/>
            </a:pPr>
            <a:r>
              <a:rPr b="0" i="1" lang="en-US" sz="1250" u="none" cap="none" strike="noStrike">
                <a:solidFill>
                  <a:srgbClr val="8A7A6A"/>
                </a:solidFill>
                <a:latin typeface="Calibri"/>
                <a:ea typeface="Calibri"/>
                <a:cs typeface="Calibri"/>
                <a:sym typeface="Calibri"/>
              </a:rPr>
              <a:t>Sensor instalado en una escuela de Saladillo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" name="Google Shape;107;p8"/>
          <p:cNvSpPr/>
          <p:nvPr/>
        </p:nvSpPr>
        <p:spPr>
          <a:xfrm>
            <a:off x="7986370" y="1828800"/>
            <a:ext cx="3261665" cy="2743200"/>
          </a:xfrm>
          <a:prstGeom prst="roundRect">
            <a:avLst>
              <a:gd fmla="val 3333" name="adj"/>
            </a:avLst>
          </a:prstGeom>
          <a:solidFill>
            <a:schemeClr val="dk1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108" name="Google Shape;108;p8"/>
          <p:cNvSpPr txBox="1"/>
          <p:nvPr/>
        </p:nvSpPr>
        <p:spPr>
          <a:xfrm>
            <a:off x="7986370" y="4663440"/>
            <a:ext cx="3261665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8A7A6A"/>
              </a:buClr>
              <a:buSzPts val="1100"/>
              <a:buFont typeface="Calibri"/>
              <a:buNone/>
            </a:pPr>
            <a:r>
              <a:rPr b="0" i="1" lang="en-US" sz="1250" u="none" cap="none" strike="noStrike">
                <a:solidFill>
                  <a:srgbClr val="8A7A6A"/>
                </a:solidFill>
                <a:latin typeface="Calibri"/>
                <a:ea typeface="Calibri"/>
                <a:cs typeface="Calibri"/>
                <a:sym typeface="Calibri"/>
              </a:rPr>
              <a:t>El portal aq.lemeit.ar en uso, en el aula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" name="Google Shape;109;p8"/>
          <p:cNvSpPr txBox="1"/>
          <p:nvPr/>
        </p:nvSpPr>
        <p:spPr>
          <a:xfrm>
            <a:off x="11457432" y="6400800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8A7A6A"/>
              </a:buClr>
              <a:buSzPts val="1000"/>
              <a:buFont typeface="Calibri"/>
              <a:buNone/>
            </a:pPr>
            <a:r>
              <a:rPr lang="en-US" sz="1250">
                <a:solidFill>
                  <a:srgbClr val="8A7A6A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" name="Google Shape;110;p8"/>
          <p:cNvSpPr txBox="1"/>
          <p:nvPr/>
        </p:nvSpPr>
        <p:spPr>
          <a:xfrm>
            <a:off x="548640" y="6400800"/>
            <a:ext cx="4572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A7A6A"/>
              </a:buClr>
              <a:buSzPts val="1000"/>
              <a:buFont typeface="Calibri"/>
              <a:buNone/>
            </a:pPr>
            <a:r>
              <a:rPr b="0" i="0" lang="en-US" sz="1250" u="none" cap="none" strike="noStrike">
                <a:solidFill>
                  <a:srgbClr val="8A7A6A"/>
                </a:solidFill>
                <a:latin typeface="Calibri"/>
                <a:ea typeface="Calibri"/>
                <a:cs typeface="Calibri"/>
                <a:sym typeface="Calibri"/>
              </a:rPr>
              <a:t>Ciencia Ciudadana Ambiental · Saladillo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11" name="Google Shape;111;p8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450390" y="1980082"/>
            <a:ext cx="3261660" cy="2443443"/>
          </a:xfrm>
          <a:prstGeom prst="rect">
            <a:avLst/>
          </a:prstGeom>
          <a:noFill/>
          <a:ln>
            <a:noFill/>
          </a:ln>
        </p:spPr>
      </p:pic>
      <p:pic>
        <p:nvPicPr>
          <p:cNvPr id="112" name="Google Shape;112;p8"/>
          <p:cNvPicPr preferRelativeResize="0"/>
          <p:nvPr/>
        </p:nvPicPr>
        <p:blipFill rotWithShape="1">
          <a:blip r:embed="rId6">
            <a:alphaModFix/>
          </a:blip>
          <a:srcRect b="7114" l="999" r="7376" t="11855"/>
          <a:stretch/>
        </p:blipFill>
        <p:spPr>
          <a:xfrm>
            <a:off x="7986375" y="1980075"/>
            <a:ext cx="3261600" cy="2446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7F2"/>
        </a:solidFill>
      </p:bgPr>
    </p:bg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9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9B3D0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ptx_build/icons/parametros.png" id="119" name="Google Shape;119;p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85800" y="640080"/>
            <a:ext cx="292608" cy="292608"/>
          </a:xfrm>
          <a:prstGeom prst="rect">
            <a:avLst/>
          </a:prstGeom>
          <a:noFill/>
          <a:ln>
            <a:noFill/>
          </a:ln>
        </p:spPr>
      </p:pic>
      <p:sp>
        <p:nvSpPr>
          <p:cNvPr id="120" name="Google Shape;120;p9"/>
          <p:cNvSpPr txBox="1"/>
          <p:nvPr/>
        </p:nvSpPr>
        <p:spPr>
          <a:xfrm>
            <a:off x="1325880" y="457200"/>
            <a:ext cx="102412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A1D12"/>
              </a:buClr>
              <a:buSzPts val="2700"/>
              <a:buFont typeface="Calibri"/>
              <a:buNone/>
            </a:pPr>
            <a:r>
              <a:rPr b="1" i="0" lang="en-US" sz="2700" u="none" cap="none" strike="noStrike">
                <a:solidFill>
                  <a:srgbClr val="2A1D12"/>
                </a:solidFill>
                <a:latin typeface="Calibri"/>
                <a:ea typeface="Calibri"/>
                <a:cs typeface="Calibri"/>
                <a:sym typeface="Calibri"/>
              </a:rPr>
              <a:t>Qué se mide, y por qué importa</a:t>
            </a:r>
            <a:endParaRPr b="0" i="0" sz="2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1" name="Google Shape;121;p9"/>
          <p:cNvSpPr txBox="1"/>
          <p:nvPr/>
        </p:nvSpPr>
        <p:spPr>
          <a:xfrm>
            <a:off x="914400" y="1691640"/>
            <a:ext cx="28803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B3D00"/>
              </a:buClr>
              <a:buSzPts val="1000"/>
              <a:buFont typeface="JetBrains Mono"/>
              <a:buNone/>
            </a:pPr>
            <a:r>
              <a:rPr b="1" i="0" lang="en-US" sz="1350" u="none" cap="none" strike="noStrike">
                <a:solidFill>
                  <a:srgbClr val="9B3D0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PARÁMETRO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2" name="Google Shape;122;p9"/>
          <p:cNvSpPr txBox="1"/>
          <p:nvPr/>
        </p:nvSpPr>
        <p:spPr>
          <a:xfrm>
            <a:off x="3977640" y="1691640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B3D00"/>
              </a:buClr>
              <a:buSzPts val="1000"/>
              <a:buFont typeface="JetBrains Mono"/>
              <a:buNone/>
            </a:pPr>
            <a:r>
              <a:rPr b="1" i="0" lang="en-US" sz="1350" u="none" cap="none" strike="noStrike">
                <a:solidFill>
                  <a:srgbClr val="9B3D0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QUÉ ES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" name="Google Shape;123;p9"/>
          <p:cNvSpPr txBox="1"/>
          <p:nvPr/>
        </p:nvSpPr>
        <p:spPr>
          <a:xfrm>
            <a:off x="6537960" y="1691640"/>
            <a:ext cx="46177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B3D00"/>
              </a:buClr>
              <a:buSzPts val="1000"/>
              <a:buFont typeface="JetBrains Mono"/>
              <a:buNone/>
            </a:pPr>
            <a:r>
              <a:rPr b="1" i="0" lang="en-US" sz="1350" u="none" cap="none" strike="noStrike">
                <a:solidFill>
                  <a:srgbClr val="9B3D0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POR QUÉ IMPORTA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24" name="Google Shape;124;p9"/>
          <p:cNvCxnSpPr/>
          <p:nvPr/>
        </p:nvCxnSpPr>
        <p:spPr>
          <a:xfrm>
            <a:off x="914400" y="2011680"/>
            <a:ext cx="10241280" cy="0"/>
          </a:xfrm>
          <a:prstGeom prst="straightConnector1">
            <a:avLst/>
          </a:prstGeom>
          <a:noFill/>
          <a:ln cap="flat" cmpd="sng" w="12700">
            <a:solidFill>
              <a:srgbClr val="DDD2C4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25" name="Google Shape;125;p9"/>
          <p:cNvSpPr txBox="1"/>
          <p:nvPr/>
        </p:nvSpPr>
        <p:spPr>
          <a:xfrm>
            <a:off x="914400" y="2148840"/>
            <a:ext cx="2880360" cy="6583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A1D12"/>
              </a:buClr>
              <a:buSzPts val="1150"/>
              <a:buFont typeface="JetBrains Mono"/>
              <a:buNone/>
            </a:pPr>
            <a:r>
              <a:rPr b="1" i="0" lang="en-US" sz="1300" u="none" cap="none" strike="noStrike">
                <a:solidFill>
                  <a:srgbClr val="2A1D12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PM1 · PM2.5 · PM10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" name="Google Shape;126;p9"/>
          <p:cNvSpPr txBox="1"/>
          <p:nvPr/>
        </p:nvSpPr>
        <p:spPr>
          <a:xfrm>
            <a:off x="3977640" y="2148840"/>
            <a:ext cx="2377440" cy="6583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8A7A6A"/>
              </a:buClr>
              <a:buSzPts val="1200"/>
              <a:buFont typeface="Calibri"/>
              <a:buNone/>
            </a:pPr>
            <a:r>
              <a:rPr b="0" i="0" lang="en-US" sz="1350" u="none" cap="none" strike="noStrike">
                <a:solidFill>
                  <a:srgbClr val="8A7A6A"/>
                </a:solidFill>
                <a:latin typeface="Calibri"/>
                <a:ea typeface="Calibri"/>
                <a:cs typeface="Calibri"/>
                <a:sym typeface="Calibri"/>
              </a:rPr>
              <a:t>Material particulado en suspensión, según su diámetro (1 / 2,5 / 10 micrones)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7" name="Google Shape;127;p9"/>
          <p:cNvSpPr txBox="1"/>
          <p:nvPr/>
        </p:nvSpPr>
        <p:spPr>
          <a:xfrm>
            <a:off x="6537960" y="2148840"/>
            <a:ext cx="4617720" cy="6583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2A1D12"/>
              </a:buClr>
              <a:buSzPts val="1200"/>
              <a:buFont typeface="Calibri"/>
              <a:buNone/>
            </a:pPr>
            <a:r>
              <a:rPr b="0" i="0" lang="en-US" sz="1350" u="none" cap="none" strike="noStrike">
                <a:solidFill>
                  <a:srgbClr val="2A1D12"/>
                </a:solidFill>
                <a:latin typeface="Calibri"/>
                <a:ea typeface="Calibri"/>
                <a:cs typeface="Calibri"/>
                <a:sym typeface="Calibri"/>
              </a:rPr>
              <a:t>El PM2.5 penetra más profundo en el sistema respiratorio; Argentina promedia niveles que duplican la guía de la OMS.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28" name="Google Shape;128;p9"/>
          <p:cNvCxnSpPr/>
          <p:nvPr/>
        </p:nvCxnSpPr>
        <p:spPr>
          <a:xfrm>
            <a:off x="914400" y="2788920"/>
            <a:ext cx="10241280" cy="0"/>
          </a:xfrm>
          <a:prstGeom prst="straightConnector1">
            <a:avLst/>
          </a:prstGeom>
          <a:noFill/>
          <a:ln cap="flat" cmpd="sng" w="9525">
            <a:solidFill>
              <a:srgbClr val="EDE6DB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29" name="Google Shape;129;p9"/>
          <p:cNvSpPr txBox="1"/>
          <p:nvPr/>
        </p:nvSpPr>
        <p:spPr>
          <a:xfrm>
            <a:off x="914400" y="2807208"/>
            <a:ext cx="28803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A1D12"/>
              </a:buClr>
              <a:buSzPts val="1150"/>
              <a:buFont typeface="JetBrains Mono"/>
              <a:buNone/>
            </a:pPr>
            <a:r>
              <a:rPr b="1" i="0" lang="en-US" sz="1300" u="none" cap="none" strike="noStrike">
                <a:solidFill>
                  <a:srgbClr val="2A1D12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COV (VOC)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" name="Google Shape;130;p9"/>
          <p:cNvSpPr txBox="1"/>
          <p:nvPr/>
        </p:nvSpPr>
        <p:spPr>
          <a:xfrm>
            <a:off x="3977640" y="2807208"/>
            <a:ext cx="23774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8A7A6A"/>
              </a:buClr>
              <a:buSzPts val="1200"/>
              <a:buFont typeface="Calibri"/>
              <a:buNone/>
            </a:pPr>
            <a:r>
              <a:rPr b="0" i="0" lang="en-US" sz="1350" u="none" cap="none" strike="noStrike">
                <a:solidFill>
                  <a:srgbClr val="8A7A6A"/>
                </a:solidFill>
                <a:latin typeface="Calibri"/>
                <a:ea typeface="Calibri"/>
                <a:cs typeface="Calibri"/>
                <a:sym typeface="Calibri"/>
              </a:rPr>
              <a:t>Compuestos orgánicos volátiles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" name="Google Shape;131;p9"/>
          <p:cNvSpPr txBox="1"/>
          <p:nvPr/>
        </p:nvSpPr>
        <p:spPr>
          <a:xfrm>
            <a:off x="6537960" y="2807208"/>
            <a:ext cx="46177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2A1D12"/>
              </a:buClr>
              <a:buSzPts val="1200"/>
              <a:buFont typeface="Calibri"/>
              <a:buNone/>
            </a:pPr>
            <a:r>
              <a:rPr b="0" i="0" lang="en-US" sz="1350" u="none" cap="none" strike="noStrike">
                <a:solidFill>
                  <a:srgbClr val="2A1D12"/>
                </a:solidFill>
                <a:latin typeface="Calibri"/>
                <a:ea typeface="Calibri"/>
                <a:cs typeface="Calibri"/>
                <a:sym typeface="Calibri"/>
              </a:rPr>
              <a:t>Trazan fuentes de combustión, pinturas, solventes y otros contaminantes del aire interior y exterior.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32" name="Google Shape;132;p9"/>
          <p:cNvCxnSpPr/>
          <p:nvPr/>
        </p:nvCxnSpPr>
        <p:spPr>
          <a:xfrm>
            <a:off x="914400" y="3246120"/>
            <a:ext cx="10241280" cy="0"/>
          </a:xfrm>
          <a:prstGeom prst="straightConnector1">
            <a:avLst/>
          </a:prstGeom>
          <a:noFill/>
          <a:ln cap="flat" cmpd="sng" w="9525">
            <a:solidFill>
              <a:srgbClr val="EDE6DB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3" name="Google Shape;133;p9"/>
          <p:cNvSpPr txBox="1"/>
          <p:nvPr/>
        </p:nvSpPr>
        <p:spPr>
          <a:xfrm>
            <a:off x="914400" y="3264408"/>
            <a:ext cx="28803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A1D12"/>
              </a:buClr>
              <a:buSzPts val="1150"/>
              <a:buFont typeface="JetBrains Mono"/>
              <a:buNone/>
            </a:pPr>
            <a:r>
              <a:rPr b="1" i="0" lang="en-US" sz="1300" u="none" cap="none" strike="noStrike">
                <a:solidFill>
                  <a:srgbClr val="2A1D12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NOx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4" name="Google Shape;134;p9"/>
          <p:cNvSpPr txBox="1"/>
          <p:nvPr/>
        </p:nvSpPr>
        <p:spPr>
          <a:xfrm>
            <a:off x="3977640" y="3264408"/>
            <a:ext cx="23774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8A7A6A"/>
              </a:buClr>
              <a:buSzPts val="1200"/>
              <a:buFont typeface="Calibri"/>
              <a:buNone/>
            </a:pPr>
            <a:r>
              <a:rPr b="0" i="0" lang="en-US" sz="1350" u="none" cap="none" strike="noStrike">
                <a:solidFill>
                  <a:srgbClr val="8A7A6A"/>
                </a:solidFill>
                <a:latin typeface="Calibri"/>
                <a:ea typeface="Calibri"/>
                <a:cs typeface="Calibri"/>
                <a:sym typeface="Calibri"/>
              </a:rPr>
              <a:t>Óxidos de nitrógeno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" name="Google Shape;135;p9"/>
          <p:cNvSpPr txBox="1"/>
          <p:nvPr/>
        </p:nvSpPr>
        <p:spPr>
          <a:xfrm>
            <a:off x="6537960" y="3264408"/>
            <a:ext cx="46177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2A1D12"/>
              </a:buClr>
              <a:buSzPts val="1200"/>
              <a:buFont typeface="Calibri"/>
              <a:buNone/>
            </a:pPr>
            <a:r>
              <a:rPr b="0" i="0" lang="en-US" sz="1350" u="none" cap="none" strike="noStrike">
                <a:solidFill>
                  <a:srgbClr val="2A1D12"/>
                </a:solidFill>
                <a:latin typeface="Calibri"/>
                <a:ea typeface="Calibri"/>
                <a:cs typeface="Calibri"/>
                <a:sym typeface="Calibri"/>
              </a:rPr>
              <a:t>Asociados al tránsito vehicular y a procesos de combustión.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36" name="Google Shape;136;p9"/>
          <p:cNvCxnSpPr/>
          <p:nvPr/>
        </p:nvCxnSpPr>
        <p:spPr>
          <a:xfrm>
            <a:off x="914400" y="3703320"/>
            <a:ext cx="10241280" cy="0"/>
          </a:xfrm>
          <a:prstGeom prst="straightConnector1">
            <a:avLst/>
          </a:prstGeom>
          <a:noFill/>
          <a:ln cap="flat" cmpd="sng" w="9525">
            <a:solidFill>
              <a:srgbClr val="EDE6DB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7" name="Google Shape;137;p9"/>
          <p:cNvSpPr txBox="1"/>
          <p:nvPr/>
        </p:nvSpPr>
        <p:spPr>
          <a:xfrm>
            <a:off x="914400" y="3721608"/>
            <a:ext cx="28803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A1D12"/>
              </a:buClr>
              <a:buSzPts val="1150"/>
              <a:buFont typeface="JetBrains Mono"/>
              <a:buNone/>
            </a:pPr>
            <a:r>
              <a:rPr b="1" i="0" lang="en-US" sz="1300" u="none" cap="none" strike="noStrike">
                <a:solidFill>
                  <a:srgbClr val="2A1D12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CO₂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9"/>
          <p:cNvSpPr txBox="1"/>
          <p:nvPr/>
        </p:nvSpPr>
        <p:spPr>
          <a:xfrm>
            <a:off x="3977640" y="3721608"/>
            <a:ext cx="23774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8A7A6A"/>
              </a:buClr>
              <a:buSzPts val="1200"/>
              <a:buFont typeface="Calibri"/>
              <a:buNone/>
            </a:pPr>
            <a:r>
              <a:rPr b="0" i="0" lang="en-US" sz="1350" u="none" cap="none" strike="noStrike">
                <a:solidFill>
                  <a:srgbClr val="8A7A6A"/>
                </a:solidFill>
                <a:latin typeface="Calibri"/>
                <a:ea typeface="Calibri"/>
                <a:cs typeface="Calibri"/>
                <a:sym typeface="Calibri"/>
              </a:rPr>
              <a:t>Dióxido de carbono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" name="Google Shape;139;p9"/>
          <p:cNvSpPr txBox="1"/>
          <p:nvPr/>
        </p:nvSpPr>
        <p:spPr>
          <a:xfrm>
            <a:off x="6537960" y="3721608"/>
            <a:ext cx="46177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2A1D12"/>
              </a:buClr>
              <a:buSzPts val="1200"/>
              <a:buFont typeface="Calibri"/>
              <a:buNone/>
            </a:pPr>
            <a:r>
              <a:rPr b="0" i="0" lang="en-US" sz="1350" u="none" cap="none" strike="noStrike">
                <a:solidFill>
                  <a:srgbClr val="2A1D12"/>
                </a:solidFill>
                <a:latin typeface="Calibri"/>
                <a:ea typeface="Calibri"/>
                <a:cs typeface="Calibri"/>
                <a:sym typeface="Calibri"/>
              </a:rPr>
              <a:t>Indicador directo de la ventilación del aula: a mayor acumulación, peor recambio de aire.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40" name="Google Shape;140;p9"/>
          <p:cNvCxnSpPr/>
          <p:nvPr/>
        </p:nvCxnSpPr>
        <p:spPr>
          <a:xfrm>
            <a:off x="914400" y="4160520"/>
            <a:ext cx="10241280" cy="0"/>
          </a:xfrm>
          <a:prstGeom prst="straightConnector1">
            <a:avLst/>
          </a:prstGeom>
          <a:noFill/>
          <a:ln cap="flat" cmpd="sng" w="9525">
            <a:solidFill>
              <a:srgbClr val="EDE6DB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41" name="Google Shape;141;p9"/>
          <p:cNvSpPr txBox="1"/>
          <p:nvPr/>
        </p:nvSpPr>
        <p:spPr>
          <a:xfrm>
            <a:off x="914400" y="4178808"/>
            <a:ext cx="28803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A1D12"/>
              </a:buClr>
              <a:buSzPts val="1150"/>
              <a:buFont typeface="JetBrains Mono"/>
              <a:buNone/>
            </a:pPr>
            <a:r>
              <a:rPr b="1" i="0" lang="en-US" sz="1300" u="none" cap="none" strike="noStrike">
                <a:solidFill>
                  <a:srgbClr val="2A1D12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Humedad y temperatura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9"/>
          <p:cNvSpPr txBox="1"/>
          <p:nvPr/>
        </p:nvSpPr>
        <p:spPr>
          <a:xfrm>
            <a:off x="3977640" y="4178808"/>
            <a:ext cx="23774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8A7A6A"/>
              </a:buClr>
              <a:buSzPts val="1200"/>
              <a:buFont typeface="Calibri"/>
              <a:buNone/>
            </a:pPr>
            <a:r>
              <a:rPr b="0" i="0" lang="en-US" sz="1350" u="none" cap="none" strike="noStrike">
                <a:solidFill>
                  <a:srgbClr val="8A7A6A"/>
                </a:solidFill>
                <a:latin typeface="Calibri"/>
                <a:ea typeface="Calibri"/>
                <a:cs typeface="Calibri"/>
                <a:sym typeface="Calibri"/>
              </a:rPr>
              <a:t>Condiciones ambientales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3" name="Google Shape;143;p9"/>
          <p:cNvSpPr txBox="1"/>
          <p:nvPr/>
        </p:nvSpPr>
        <p:spPr>
          <a:xfrm>
            <a:off x="6537960" y="4178808"/>
            <a:ext cx="46177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2A1D12"/>
              </a:buClr>
              <a:buSzPts val="1200"/>
              <a:buFont typeface="Calibri"/>
              <a:buNone/>
            </a:pPr>
            <a:r>
              <a:rPr b="0" i="0" lang="en-US" sz="1350" u="none" cap="none" strike="noStrike">
                <a:solidFill>
                  <a:srgbClr val="2A1D12"/>
                </a:solidFill>
                <a:latin typeface="Calibri"/>
                <a:ea typeface="Calibri"/>
                <a:cs typeface="Calibri"/>
                <a:sym typeface="Calibri"/>
              </a:rPr>
              <a:t>Contexto necesario para interpretar correctamente el resto de los parámetros.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44" name="Google Shape;144;p9"/>
          <p:cNvCxnSpPr/>
          <p:nvPr/>
        </p:nvCxnSpPr>
        <p:spPr>
          <a:xfrm>
            <a:off x="914400" y="4617720"/>
            <a:ext cx="10241280" cy="0"/>
          </a:xfrm>
          <a:prstGeom prst="straightConnector1">
            <a:avLst/>
          </a:prstGeom>
          <a:noFill/>
          <a:ln cap="flat" cmpd="sng" w="9525">
            <a:solidFill>
              <a:srgbClr val="EDE6DB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45" name="Google Shape;145;p9"/>
          <p:cNvSpPr txBox="1"/>
          <p:nvPr/>
        </p:nvSpPr>
        <p:spPr>
          <a:xfrm>
            <a:off x="914400" y="4636008"/>
            <a:ext cx="28803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A1D12"/>
              </a:buClr>
              <a:buSzPts val="1150"/>
              <a:buFont typeface="JetBrains Mono"/>
              <a:buNone/>
            </a:pPr>
            <a:r>
              <a:rPr b="1" i="0" lang="en-US" sz="1300" u="none" cap="none" strike="noStrike">
                <a:solidFill>
                  <a:srgbClr val="2A1D12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Presión atmosférica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6" name="Google Shape;146;p9"/>
          <p:cNvSpPr txBox="1"/>
          <p:nvPr/>
        </p:nvSpPr>
        <p:spPr>
          <a:xfrm>
            <a:off x="3977640" y="4636008"/>
            <a:ext cx="23774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8A7A6A"/>
              </a:buClr>
              <a:buSzPts val="1200"/>
              <a:buFont typeface="Calibri"/>
              <a:buNone/>
            </a:pPr>
            <a:r>
              <a:rPr b="0" i="0" lang="en-US" sz="1350" u="none" cap="none" strike="noStrike">
                <a:solidFill>
                  <a:srgbClr val="8A7A6A"/>
                </a:solidFill>
                <a:latin typeface="Calibri"/>
                <a:ea typeface="Calibri"/>
                <a:cs typeface="Calibri"/>
                <a:sym typeface="Calibri"/>
              </a:rPr>
              <a:t>Presión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7" name="Google Shape;147;p9"/>
          <p:cNvSpPr txBox="1"/>
          <p:nvPr/>
        </p:nvSpPr>
        <p:spPr>
          <a:xfrm>
            <a:off x="6537960" y="4636008"/>
            <a:ext cx="46177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2A1D12"/>
              </a:buClr>
              <a:buSzPts val="1200"/>
              <a:buFont typeface="Calibri"/>
              <a:buNone/>
            </a:pPr>
            <a:r>
              <a:rPr b="0" i="0" lang="en-US" sz="1350" u="none" cap="none" strike="noStrike">
                <a:solidFill>
                  <a:srgbClr val="2A1D12"/>
                </a:solidFill>
                <a:latin typeface="Calibri"/>
                <a:ea typeface="Calibri"/>
                <a:cs typeface="Calibri"/>
                <a:sym typeface="Calibri"/>
              </a:rPr>
              <a:t>Completa el panorama meteorológico del sitio de medición.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8" name="Google Shape;148;p9"/>
          <p:cNvSpPr txBox="1"/>
          <p:nvPr/>
        </p:nvSpPr>
        <p:spPr>
          <a:xfrm>
            <a:off x="914400" y="6108192"/>
            <a:ext cx="103327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A7A6A"/>
              </a:buClr>
              <a:buSzPts val="950"/>
              <a:buFont typeface="Calibri"/>
              <a:buNone/>
            </a:pPr>
            <a:r>
              <a:rPr b="0" i="1" lang="en-US" sz="1200" u="none" cap="none" strike="noStrike">
                <a:solidFill>
                  <a:srgbClr val="8A7A6A"/>
                </a:solidFill>
                <a:latin typeface="Calibri"/>
                <a:ea typeface="Calibri"/>
                <a:cs typeface="Calibri"/>
                <a:sym typeface="Calibri"/>
              </a:rPr>
              <a:t>Fuente: parámetros y umbrales de referencia según el Programa de Embajadores OpenAQ (2023–24) y guías de calidad del aire de la OMS.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9"/>
          <p:cNvSpPr txBox="1"/>
          <p:nvPr/>
        </p:nvSpPr>
        <p:spPr>
          <a:xfrm>
            <a:off x="11457432" y="6400800"/>
            <a:ext cx="4572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8A7A6A"/>
              </a:buClr>
              <a:buSzPts val="1000"/>
              <a:buFont typeface="Calibri"/>
              <a:buNone/>
            </a:pPr>
            <a:r>
              <a:rPr b="0" i="0" lang="en-US" sz="1250" u="none" cap="none" strike="noStrike">
                <a:solidFill>
                  <a:srgbClr val="8A7A6A"/>
                </a:solidFill>
                <a:latin typeface="Calibri"/>
                <a:ea typeface="Calibri"/>
                <a:cs typeface="Calibri"/>
                <a:sym typeface="Calibri"/>
              </a:rPr>
              <a:t>7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" name="Google Shape;150;p9"/>
          <p:cNvSpPr txBox="1"/>
          <p:nvPr/>
        </p:nvSpPr>
        <p:spPr>
          <a:xfrm>
            <a:off x="548640" y="6400800"/>
            <a:ext cx="4572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A7A6A"/>
              </a:buClr>
              <a:buSzPts val="1000"/>
              <a:buFont typeface="Calibri"/>
              <a:buNone/>
            </a:pPr>
            <a:r>
              <a:rPr b="0" i="0" lang="en-US" sz="1250" u="none" cap="none" strike="noStrike">
                <a:solidFill>
                  <a:srgbClr val="8A7A6A"/>
                </a:solidFill>
                <a:latin typeface="Calibri"/>
                <a:ea typeface="Calibri"/>
                <a:cs typeface="Calibri"/>
                <a:sym typeface="Calibri"/>
              </a:rPr>
              <a:t>Ciencia Ciudadana Ambiental · Saladillo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7F2"/>
        </a:solidFill>
      </p:bgPr>
    </p:bg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1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9B3D0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ptx_build/icons/portal.png" id="157" name="Google Shape;157;p1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85800" y="640080"/>
            <a:ext cx="292608" cy="292608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10"/>
          <p:cNvSpPr txBox="1"/>
          <p:nvPr/>
        </p:nvSpPr>
        <p:spPr>
          <a:xfrm>
            <a:off x="1325880" y="457200"/>
            <a:ext cx="102412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A1D12"/>
              </a:buClr>
              <a:buSzPts val="2200"/>
              <a:buFont typeface="Calibri"/>
              <a:buNone/>
            </a:pPr>
            <a:r>
              <a:rPr b="1" i="0" lang="en-US" sz="2200" u="none" cap="none" strike="noStrike">
                <a:solidFill>
                  <a:srgbClr val="2A1D12"/>
                </a:solidFill>
                <a:latin typeface="Calibri"/>
                <a:ea typeface="Calibri"/>
                <a:cs typeface="Calibri"/>
                <a:sym typeface="Calibri"/>
              </a:rPr>
              <a:t>aq.lemeit.ar — cómo se leen los datos, y para qué sirven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" name="Google Shape;159;p10"/>
          <p:cNvSpPr txBox="1"/>
          <p:nvPr/>
        </p:nvSpPr>
        <p:spPr>
          <a:xfrm>
            <a:off x="914400" y="1828800"/>
            <a:ext cx="5577840" cy="3840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-234950" lvl="0" marL="22860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2A1D12"/>
              </a:buClr>
              <a:buSzPts val="1550"/>
              <a:buFont typeface="Calibri"/>
              <a:buChar char="•"/>
            </a:pPr>
            <a:r>
              <a:rPr b="0" i="0" lang="en-US" sz="1650" u="none" cap="none" strike="noStrike">
                <a:solidFill>
                  <a:srgbClr val="2A1D12"/>
                </a:solidFill>
                <a:latin typeface="Calibri"/>
                <a:ea typeface="Calibri"/>
                <a:cs typeface="Calibri"/>
                <a:sym typeface="Calibri"/>
              </a:rPr>
              <a:t>Mapa en vivo de los sensores activos, con AQI y PM2.5 al instante.</a:t>
            </a:r>
            <a:endParaRPr b="0" i="0" sz="1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34950" lvl="0" marL="228600" marR="0" rtl="0" algn="l">
              <a:lnSpc>
                <a:spcPct val="120000"/>
              </a:lnSpc>
              <a:spcBef>
                <a:spcPts val="1400"/>
              </a:spcBef>
              <a:spcAft>
                <a:spcPts val="0"/>
              </a:spcAft>
              <a:buClr>
                <a:srgbClr val="2A1D12"/>
              </a:buClr>
              <a:buSzPts val="1550"/>
              <a:buFont typeface="Calibri"/>
              <a:buChar char="•"/>
            </a:pPr>
            <a:r>
              <a:rPr b="0" i="0" lang="en-US" sz="1650" u="none" cap="none" strike="noStrike">
                <a:solidFill>
                  <a:srgbClr val="2A1D12"/>
                </a:solidFill>
                <a:latin typeface="Calibri"/>
                <a:ea typeface="Calibri"/>
                <a:cs typeface="Calibri"/>
                <a:sym typeface="Calibri"/>
              </a:rPr>
              <a:t>Historial por sensor en 3 ventanas — 24 h / 7 días / 30 días — en gráfico y en tabla, escalable a más sensores.</a:t>
            </a:r>
            <a:endParaRPr b="0" i="0" sz="1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34950" lvl="0" marL="228600" marR="0" rtl="0" algn="l">
              <a:lnSpc>
                <a:spcPct val="120000"/>
              </a:lnSpc>
              <a:spcBef>
                <a:spcPts val="1400"/>
              </a:spcBef>
              <a:spcAft>
                <a:spcPts val="0"/>
              </a:spcAft>
              <a:buClr>
                <a:srgbClr val="2A1D12"/>
              </a:buClr>
              <a:buSzPts val="1550"/>
              <a:buFont typeface="Calibri"/>
              <a:buChar char="•"/>
            </a:pPr>
            <a:r>
              <a:rPr b="0" i="0" lang="en-US" sz="1650" u="none" cap="none" strike="noStrike">
                <a:solidFill>
                  <a:srgbClr val="2A1D12"/>
                </a:solidFill>
                <a:latin typeface="Calibri"/>
                <a:ea typeface="Calibri"/>
                <a:cs typeface="Calibri"/>
                <a:sym typeface="Calibri"/>
              </a:rPr>
              <a:t>Acceso abierto también por API pública (JSON) y exportación a CSV, para analizar los datos con otras herramientas.</a:t>
            </a:r>
            <a:endParaRPr b="0" i="0" sz="1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34950" lvl="0" marL="228600" marR="0" rtl="0" algn="l">
              <a:lnSpc>
                <a:spcPct val="120000"/>
              </a:lnSpc>
              <a:spcBef>
                <a:spcPts val="1400"/>
              </a:spcBef>
              <a:spcAft>
                <a:spcPts val="0"/>
              </a:spcAft>
              <a:buClr>
                <a:srgbClr val="2A1D12"/>
              </a:buClr>
              <a:buSzPts val="1550"/>
              <a:buFont typeface="Calibri"/>
              <a:buChar char="•"/>
            </a:pPr>
            <a:r>
              <a:rPr b="0" i="0" lang="en-US" sz="1650" u="none" cap="none" strike="noStrike">
                <a:solidFill>
                  <a:srgbClr val="2A1D12"/>
                </a:solidFill>
                <a:latin typeface="Calibri"/>
                <a:ea typeface="Calibri"/>
                <a:cs typeface="Calibri"/>
                <a:sym typeface="Calibri"/>
              </a:rPr>
              <a:t>Para qué sirve: series reales para trabajar en clase, insumo para ferias de ciencia, y evidencia para pedir mejoras o alertar situaciones puntuales.</a:t>
            </a:r>
            <a:endParaRPr b="0" i="0" sz="1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0" name="Google Shape;160;p10"/>
          <p:cNvSpPr/>
          <p:nvPr/>
        </p:nvSpPr>
        <p:spPr>
          <a:xfrm>
            <a:off x="914400" y="5644960"/>
            <a:ext cx="5577840" cy="548640"/>
          </a:xfrm>
          <a:prstGeom prst="roundRect">
            <a:avLst>
              <a:gd fmla="val 50000" name="adj"/>
            </a:avLst>
          </a:prstGeom>
          <a:solidFill>
            <a:srgbClr val="F0EBE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161" name="Google Shape;161;p10"/>
          <p:cNvSpPr txBox="1"/>
          <p:nvPr/>
        </p:nvSpPr>
        <p:spPr>
          <a:xfrm>
            <a:off x="914400" y="5644960"/>
            <a:ext cx="557784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B3D00"/>
              </a:buClr>
              <a:buSzPts val="1500"/>
              <a:buFont typeface="JetBrains Mono"/>
              <a:buNone/>
            </a:pPr>
            <a:r>
              <a:rPr b="1" i="0" lang="en-US" sz="1600" u="none" cap="none" strike="noStrike">
                <a:solidFill>
                  <a:srgbClr val="9B3D0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aq.lemeit.ar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10"/>
          <p:cNvSpPr/>
          <p:nvPr/>
        </p:nvSpPr>
        <p:spPr>
          <a:xfrm>
            <a:off x="6858000" y="1783080"/>
            <a:ext cx="4709160" cy="4160520"/>
          </a:xfrm>
          <a:prstGeom prst="roundRect">
            <a:avLst>
              <a:gd fmla="val 3077" name="adj"/>
            </a:avLst>
          </a:prstGeom>
          <a:solidFill>
            <a:srgbClr val="2E2822"/>
          </a:solidFill>
          <a:ln>
            <a:noFill/>
          </a:ln>
          <a:effectLst>
            <a:outerShdw blurRad="177800" rotWithShape="0" algn="bl" dir="5400000" dist="50800">
              <a:srgbClr val="000000">
                <a:alpha val="2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163" name="Google Shape;163;p10"/>
          <p:cNvSpPr/>
          <p:nvPr/>
        </p:nvSpPr>
        <p:spPr>
          <a:xfrm>
            <a:off x="7086600" y="1965960"/>
            <a:ext cx="118872" cy="118872"/>
          </a:xfrm>
          <a:prstGeom prst="ellipse">
            <a:avLst/>
          </a:prstGeom>
          <a:solidFill>
            <a:srgbClr val="C0392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164" name="Google Shape;164;p10"/>
          <p:cNvSpPr/>
          <p:nvPr/>
        </p:nvSpPr>
        <p:spPr>
          <a:xfrm>
            <a:off x="7315200" y="1965960"/>
            <a:ext cx="118872" cy="118872"/>
          </a:xfrm>
          <a:prstGeom prst="ellipse">
            <a:avLst/>
          </a:prstGeom>
          <a:solidFill>
            <a:srgbClr val="D4A01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165" name="Google Shape;165;p10"/>
          <p:cNvSpPr/>
          <p:nvPr/>
        </p:nvSpPr>
        <p:spPr>
          <a:xfrm>
            <a:off x="7543800" y="1965960"/>
            <a:ext cx="118872" cy="118872"/>
          </a:xfrm>
          <a:prstGeom prst="ellipse">
            <a:avLst/>
          </a:prstGeom>
          <a:solidFill>
            <a:srgbClr val="B8480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166" name="Google Shape;166;p10"/>
          <p:cNvSpPr/>
          <p:nvPr/>
        </p:nvSpPr>
        <p:spPr>
          <a:xfrm>
            <a:off x="6995160" y="2221992"/>
            <a:ext cx="4434840" cy="3584448"/>
          </a:xfrm>
          <a:prstGeom prst="roundRect">
            <a:avLst>
              <a:gd fmla="val 1020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ptx_build/assets/screenshot_aq.png" id="167" name="Google Shape;167;p10"/>
          <p:cNvPicPr preferRelativeResize="0"/>
          <p:nvPr/>
        </p:nvPicPr>
        <p:blipFill rotWithShape="1">
          <a:blip r:embed="rId4">
            <a:alphaModFix/>
          </a:blip>
          <a:srcRect b="0" l="0" r="1961" t="0"/>
          <a:stretch/>
        </p:blipFill>
        <p:spPr>
          <a:xfrm>
            <a:off x="6995150" y="2628325"/>
            <a:ext cx="4434851" cy="2827222"/>
          </a:xfrm>
          <a:prstGeom prst="rect">
            <a:avLst/>
          </a:prstGeom>
          <a:noFill/>
          <a:ln>
            <a:noFill/>
          </a:ln>
        </p:spPr>
      </p:pic>
      <p:sp>
        <p:nvSpPr>
          <p:cNvPr id="168" name="Google Shape;168;p10"/>
          <p:cNvSpPr txBox="1"/>
          <p:nvPr/>
        </p:nvSpPr>
        <p:spPr>
          <a:xfrm>
            <a:off x="11457432" y="6400800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8A7A6A"/>
              </a:buClr>
              <a:buSzPts val="1000"/>
              <a:buFont typeface="Calibri"/>
              <a:buNone/>
            </a:pPr>
            <a:r>
              <a:rPr lang="en-US" sz="1250">
                <a:solidFill>
                  <a:srgbClr val="8A7A6A"/>
                </a:solidFill>
                <a:latin typeface="Calibri"/>
                <a:ea typeface="Calibri"/>
                <a:cs typeface="Calibri"/>
                <a:sym typeface="Calibri"/>
              </a:rPr>
              <a:t>8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p10"/>
          <p:cNvSpPr txBox="1"/>
          <p:nvPr/>
        </p:nvSpPr>
        <p:spPr>
          <a:xfrm>
            <a:off x="548640" y="6400800"/>
            <a:ext cx="4572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A7A6A"/>
              </a:buClr>
              <a:buSzPts val="1000"/>
              <a:buFont typeface="Calibri"/>
              <a:buNone/>
            </a:pPr>
            <a:r>
              <a:rPr b="0" i="0" lang="en-US" sz="1250" u="none" cap="none" strike="noStrike">
                <a:solidFill>
                  <a:srgbClr val="8A7A6A"/>
                </a:solidFill>
                <a:latin typeface="Calibri"/>
                <a:ea typeface="Calibri"/>
                <a:cs typeface="Calibri"/>
                <a:sym typeface="Calibri"/>
              </a:rPr>
              <a:t>Ciencia Ciudadana Ambiental · Saladillo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7F2"/>
        </a:solidFill>
      </p:bgPr>
    </p:bg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11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9B3D0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ptx_build/icons/ambiental.png" id="176" name="Google Shape;176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85800" y="640080"/>
            <a:ext cx="292608" cy="292608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11"/>
          <p:cNvSpPr txBox="1"/>
          <p:nvPr/>
        </p:nvSpPr>
        <p:spPr>
          <a:xfrm>
            <a:off x="1325880" y="457200"/>
            <a:ext cx="102412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A1D12"/>
              </a:buClr>
              <a:buSzPts val="2600"/>
              <a:buFont typeface="Calibri"/>
              <a:buNone/>
            </a:pPr>
            <a:r>
              <a:rPr b="1" i="0" lang="en-US" sz="2600" u="none" cap="none" strike="noStrike">
                <a:solidFill>
                  <a:srgbClr val="2A1D12"/>
                </a:solidFill>
                <a:latin typeface="Calibri"/>
                <a:ea typeface="Calibri"/>
                <a:cs typeface="Calibri"/>
                <a:sym typeface="Calibri"/>
              </a:rPr>
              <a:t>Valor ambiental: datos abiertos para decidir con evidencia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" name="Google Shape;178;p11"/>
          <p:cNvSpPr/>
          <p:nvPr/>
        </p:nvSpPr>
        <p:spPr>
          <a:xfrm>
            <a:off x="914400" y="1874520"/>
            <a:ext cx="2377440" cy="2331720"/>
          </a:xfrm>
          <a:prstGeom prst="roundRect">
            <a:avLst>
              <a:gd fmla="val 3922" name="adj"/>
            </a:avLst>
          </a:prstGeom>
          <a:solidFill>
            <a:srgbClr val="F0EBE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179" name="Google Shape;179;p11"/>
          <p:cNvSpPr/>
          <p:nvPr/>
        </p:nvSpPr>
        <p:spPr>
          <a:xfrm>
            <a:off x="1115568" y="2075688"/>
            <a:ext cx="457200" cy="457200"/>
          </a:xfrm>
          <a:prstGeom prst="ellipse">
            <a:avLst/>
          </a:prstGeom>
          <a:solidFill>
            <a:srgbClr val="9B3D0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ptx_build/icons/chart.png" id="180" name="Google Shape;180;p1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225296" y="2185416"/>
            <a:ext cx="237744" cy="237744"/>
          </a:xfrm>
          <a:prstGeom prst="rect">
            <a:avLst/>
          </a:prstGeom>
          <a:noFill/>
          <a:ln>
            <a:noFill/>
          </a:ln>
        </p:spPr>
      </p:pic>
      <p:sp>
        <p:nvSpPr>
          <p:cNvPr id="181" name="Google Shape;181;p11"/>
          <p:cNvSpPr txBox="1"/>
          <p:nvPr/>
        </p:nvSpPr>
        <p:spPr>
          <a:xfrm>
            <a:off x="1097280" y="2651760"/>
            <a:ext cx="201168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A1D12"/>
              </a:buClr>
              <a:buSzPts val="1450"/>
              <a:buFont typeface="Calibri"/>
              <a:buNone/>
            </a:pPr>
            <a:r>
              <a:rPr b="1" i="0" lang="en-US" sz="1650" u="none" cap="none" strike="noStrike">
                <a:solidFill>
                  <a:srgbClr val="2A1D12"/>
                </a:solidFill>
                <a:latin typeface="Calibri"/>
                <a:ea typeface="Calibri"/>
                <a:cs typeface="Calibri"/>
                <a:sym typeface="Calibri"/>
              </a:rPr>
              <a:t>Tendencias y fuentes</a:t>
            </a:r>
            <a:endParaRPr b="0" i="0" sz="1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" name="Google Shape;182;p11"/>
          <p:cNvSpPr txBox="1"/>
          <p:nvPr/>
        </p:nvSpPr>
        <p:spPr>
          <a:xfrm>
            <a:off x="1097280" y="3154680"/>
            <a:ext cx="201168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8A7A6A"/>
              </a:buClr>
              <a:buSzPts val="1150"/>
              <a:buFont typeface="Calibri"/>
              <a:buNone/>
            </a:pPr>
            <a:r>
              <a:rPr b="0" i="0" lang="en-US" sz="1500" u="none" cap="none" strike="noStrike">
                <a:solidFill>
                  <a:srgbClr val="8A7A6A"/>
                </a:solidFill>
                <a:latin typeface="Calibri"/>
                <a:ea typeface="Calibri"/>
                <a:cs typeface="Calibri"/>
                <a:sym typeface="Calibri"/>
              </a:rPr>
              <a:t>El monitoreo continuo permite identificar picos de contaminación y sus posibles fuentes.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" name="Google Shape;183;p11"/>
          <p:cNvSpPr/>
          <p:nvPr/>
        </p:nvSpPr>
        <p:spPr>
          <a:xfrm>
            <a:off x="3547872" y="1874520"/>
            <a:ext cx="2377440" cy="2331720"/>
          </a:xfrm>
          <a:prstGeom prst="roundRect">
            <a:avLst>
              <a:gd fmla="val 3922" name="adj"/>
            </a:avLst>
          </a:prstGeom>
          <a:solidFill>
            <a:srgbClr val="F0EBE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184" name="Google Shape;184;p11"/>
          <p:cNvSpPr/>
          <p:nvPr/>
        </p:nvSpPr>
        <p:spPr>
          <a:xfrm>
            <a:off x="3749040" y="2075688"/>
            <a:ext cx="457200" cy="457200"/>
          </a:xfrm>
          <a:prstGeom prst="ellipse">
            <a:avLst/>
          </a:prstGeom>
          <a:solidFill>
            <a:srgbClr val="9B3D0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ptx_build/icons/ley.png" id="185" name="Google Shape;185;p1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8768" y="2185416"/>
            <a:ext cx="237744" cy="237744"/>
          </a:xfrm>
          <a:prstGeom prst="rect">
            <a:avLst/>
          </a:prstGeom>
          <a:noFill/>
          <a:ln>
            <a:noFill/>
          </a:ln>
        </p:spPr>
      </p:pic>
      <p:sp>
        <p:nvSpPr>
          <p:cNvPr id="186" name="Google Shape;186;p11"/>
          <p:cNvSpPr txBox="1"/>
          <p:nvPr/>
        </p:nvSpPr>
        <p:spPr>
          <a:xfrm>
            <a:off x="3730752" y="2651760"/>
            <a:ext cx="201168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A1D12"/>
              </a:buClr>
              <a:buSzPts val="1450"/>
              <a:buFont typeface="Calibri"/>
              <a:buNone/>
            </a:pPr>
            <a:r>
              <a:rPr b="1" i="0" lang="en-US" sz="1650" u="none" cap="none" strike="noStrike">
                <a:solidFill>
                  <a:srgbClr val="2A1D12"/>
                </a:solidFill>
                <a:latin typeface="Calibri"/>
                <a:ea typeface="Calibri"/>
                <a:cs typeface="Calibri"/>
                <a:sym typeface="Calibri"/>
              </a:rPr>
              <a:t>Base para decidir</a:t>
            </a:r>
            <a:endParaRPr b="0" i="0" sz="1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" name="Google Shape;187;p11"/>
          <p:cNvSpPr txBox="1"/>
          <p:nvPr/>
        </p:nvSpPr>
        <p:spPr>
          <a:xfrm>
            <a:off x="3730702" y="3000125"/>
            <a:ext cx="2011800" cy="100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8A7A6A"/>
              </a:buClr>
              <a:buSzPts val="1150"/>
              <a:buFont typeface="Calibri"/>
              <a:buNone/>
            </a:pPr>
            <a:r>
              <a:rPr b="0" i="0" lang="en-US" sz="1500" u="none" cap="none" strike="noStrike">
                <a:solidFill>
                  <a:srgbClr val="8A7A6A"/>
                </a:solidFill>
                <a:latin typeface="Calibri"/>
                <a:ea typeface="Calibri"/>
                <a:cs typeface="Calibri"/>
                <a:sym typeface="Calibri"/>
              </a:rPr>
              <a:t>Datos propios como insumo para ordenanzas y políticas locales de aire limpio.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" name="Google Shape;188;p11"/>
          <p:cNvSpPr/>
          <p:nvPr/>
        </p:nvSpPr>
        <p:spPr>
          <a:xfrm>
            <a:off x="6181344" y="1874520"/>
            <a:ext cx="2377440" cy="2331720"/>
          </a:xfrm>
          <a:prstGeom prst="roundRect">
            <a:avLst>
              <a:gd fmla="val 3922" name="adj"/>
            </a:avLst>
          </a:prstGeom>
          <a:solidFill>
            <a:srgbClr val="F0EBE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189" name="Google Shape;189;p11"/>
          <p:cNvSpPr/>
          <p:nvPr/>
        </p:nvSpPr>
        <p:spPr>
          <a:xfrm>
            <a:off x="6382512" y="2075688"/>
            <a:ext cx="457200" cy="457200"/>
          </a:xfrm>
          <a:prstGeom prst="ellipse">
            <a:avLst/>
          </a:prstGeom>
          <a:solidFill>
            <a:srgbClr val="9B3D0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ptx_build/icons/globe.png" id="190" name="Google Shape;190;p11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492240" y="2185416"/>
            <a:ext cx="237744" cy="237744"/>
          </a:xfrm>
          <a:prstGeom prst="rect">
            <a:avLst/>
          </a:prstGeom>
          <a:noFill/>
          <a:ln>
            <a:noFill/>
          </a:ln>
        </p:spPr>
      </p:pic>
      <p:sp>
        <p:nvSpPr>
          <p:cNvPr id="191" name="Google Shape;191;p11"/>
          <p:cNvSpPr txBox="1"/>
          <p:nvPr/>
        </p:nvSpPr>
        <p:spPr>
          <a:xfrm>
            <a:off x="6364224" y="2651760"/>
            <a:ext cx="201168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A1D12"/>
              </a:buClr>
              <a:buSzPts val="1450"/>
              <a:buFont typeface="Calibri"/>
              <a:buNone/>
            </a:pPr>
            <a:r>
              <a:rPr b="1" i="0" lang="en-US" sz="1650" u="none" cap="none" strike="noStrike">
                <a:solidFill>
                  <a:srgbClr val="2A1D12"/>
                </a:solidFill>
                <a:latin typeface="Calibri"/>
                <a:ea typeface="Calibri"/>
                <a:cs typeface="Calibri"/>
                <a:sym typeface="Calibri"/>
              </a:rPr>
              <a:t>Monitoreo integral</a:t>
            </a:r>
            <a:endParaRPr b="0" i="0" sz="1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2" name="Google Shape;192;p11"/>
          <p:cNvSpPr txBox="1"/>
          <p:nvPr/>
        </p:nvSpPr>
        <p:spPr>
          <a:xfrm>
            <a:off x="6364224" y="3080605"/>
            <a:ext cx="2011800" cy="100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8A7A6A"/>
              </a:buClr>
              <a:buSzPts val="1150"/>
              <a:buFont typeface="Calibri"/>
              <a:buNone/>
            </a:pPr>
            <a:r>
              <a:rPr b="0" i="0" lang="en-US" sz="1500" u="none" cap="none" strike="noStrike">
                <a:solidFill>
                  <a:srgbClr val="8A7A6A"/>
                </a:solidFill>
                <a:latin typeface="Calibri"/>
                <a:ea typeface="Calibri"/>
                <a:cs typeface="Calibri"/>
                <a:sym typeface="Calibri"/>
              </a:rPr>
              <a:t>Aire, clima y agua en un mismo ecosistema: los portales aq · ema · wq de Saladillo.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3" name="Google Shape;193;p11"/>
          <p:cNvSpPr/>
          <p:nvPr/>
        </p:nvSpPr>
        <p:spPr>
          <a:xfrm>
            <a:off x="8814816" y="1874520"/>
            <a:ext cx="2377440" cy="2331720"/>
          </a:xfrm>
          <a:prstGeom prst="roundRect">
            <a:avLst>
              <a:gd fmla="val 3922" name="adj"/>
            </a:avLst>
          </a:prstGeom>
          <a:solidFill>
            <a:srgbClr val="F0EBE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194" name="Google Shape;194;p11"/>
          <p:cNvSpPr/>
          <p:nvPr/>
        </p:nvSpPr>
        <p:spPr>
          <a:xfrm>
            <a:off x="9015984" y="2075688"/>
            <a:ext cx="457200" cy="457200"/>
          </a:xfrm>
          <a:prstGeom prst="ellipse">
            <a:avLst/>
          </a:prstGeom>
          <a:solidFill>
            <a:srgbClr val="9B3D0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ptx_build/icons/users.png" id="195" name="Google Shape;195;p11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9125712" y="2185416"/>
            <a:ext cx="237744" cy="237744"/>
          </a:xfrm>
          <a:prstGeom prst="rect">
            <a:avLst/>
          </a:prstGeom>
          <a:noFill/>
          <a:ln>
            <a:noFill/>
          </a:ln>
        </p:spPr>
      </p:pic>
      <p:sp>
        <p:nvSpPr>
          <p:cNvPr id="196" name="Google Shape;196;p11"/>
          <p:cNvSpPr txBox="1"/>
          <p:nvPr/>
        </p:nvSpPr>
        <p:spPr>
          <a:xfrm>
            <a:off x="8997696" y="2651760"/>
            <a:ext cx="201168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A1D12"/>
              </a:buClr>
              <a:buSzPts val="1450"/>
              <a:buFont typeface="Calibri"/>
              <a:buNone/>
            </a:pPr>
            <a:r>
              <a:rPr b="1" i="0" lang="en-US" sz="1650" u="none" cap="none" strike="noStrike">
                <a:solidFill>
                  <a:srgbClr val="2A1D12"/>
                </a:solidFill>
                <a:latin typeface="Calibri"/>
                <a:ea typeface="Calibri"/>
                <a:cs typeface="Calibri"/>
                <a:sym typeface="Calibri"/>
              </a:rPr>
              <a:t>Datos abiertos</a:t>
            </a:r>
            <a:endParaRPr b="0" i="0" sz="1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7" name="Google Shape;197;p11"/>
          <p:cNvSpPr txBox="1"/>
          <p:nvPr/>
        </p:nvSpPr>
        <p:spPr>
          <a:xfrm>
            <a:off x="8997621" y="3080630"/>
            <a:ext cx="2011800" cy="100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8A7A6A"/>
              </a:buClr>
              <a:buSzPts val="1150"/>
              <a:buFont typeface="Calibri"/>
              <a:buNone/>
            </a:pPr>
            <a:r>
              <a:rPr b="0" i="0" lang="en-US" sz="1500" u="none" cap="none" strike="noStrike">
                <a:solidFill>
                  <a:srgbClr val="8A7A6A"/>
                </a:solidFill>
                <a:latin typeface="Calibri"/>
                <a:ea typeface="Calibri"/>
                <a:cs typeface="Calibri"/>
                <a:sym typeface="Calibri"/>
              </a:rPr>
              <a:t>Disponibles para la comunidad, escuelas y organismos de control, sin restricciones.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8" name="Google Shape;198;p11"/>
          <p:cNvSpPr txBox="1"/>
          <p:nvPr/>
        </p:nvSpPr>
        <p:spPr>
          <a:xfrm>
            <a:off x="11457432" y="6400800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8A7A6A"/>
              </a:buClr>
              <a:buSzPts val="1000"/>
              <a:buFont typeface="Calibri"/>
              <a:buNone/>
            </a:pPr>
            <a:r>
              <a:rPr b="0" i="0" lang="en-US" sz="1250" u="none" cap="none" strike="noStrike">
                <a:solidFill>
                  <a:srgbClr val="8A7A6A"/>
                </a:solidFill>
                <a:latin typeface="Calibri"/>
                <a:ea typeface="Calibri"/>
                <a:cs typeface="Calibri"/>
                <a:sym typeface="Calibri"/>
              </a:rPr>
              <a:t>9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" name="Google Shape;199;p11"/>
          <p:cNvSpPr txBox="1"/>
          <p:nvPr/>
        </p:nvSpPr>
        <p:spPr>
          <a:xfrm>
            <a:off x="548640" y="6400800"/>
            <a:ext cx="4572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A7A6A"/>
              </a:buClr>
              <a:buSzPts val="1000"/>
              <a:buFont typeface="Calibri"/>
              <a:buNone/>
            </a:pPr>
            <a:r>
              <a:rPr b="0" i="0" lang="en-US" sz="1250" u="none" cap="none" strike="noStrike">
                <a:solidFill>
                  <a:srgbClr val="8A7A6A"/>
                </a:solidFill>
                <a:latin typeface="Calibri"/>
                <a:ea typeface="Calibri"/>
                <a:cs typeface="Calibri"/>
                <a:sym typeface="Calibri"/>
              </a:rPr>
              <a:t>Ciencia Ciudadana Ambiental · Saladillo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7F2"/>
        </a:solidFill>
      </p:bgPr>
    </p:bg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2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9B3D0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ptx_build/icons/pedagogico.png" id="206" name="Google Shape;206;p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85800" y="640080"/>
            <a:ext cx="292608" cy="292608"/>
          </a:xfrm>
          <a:prstGeom prst="rect">
            <a:avLst/>
          </a:prstGeom>
          <a:noFill/>
          <a:ln>
            <a:noFill/>
          </a:ln>
        </p:spPr>
      </p:pic>
      <p:sp>
        <p:nvSpPr>
          <p:cNvPr id="207" name="Google Shape;207;p12"/>
          <p:cNvSpPr txBox="1"/>
          <p:nvPr/>
        </p:nvSpPr>
        <p:spPr>
          <a:xfrm>
            <a:off x="1325880" y="457200"/>
            <a:ext cx="102412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A1D12"/>
              </a:buClr>
              <a:buSzPts val="2600"/>
              <a:buFont typeface="Calibri"/>
              <a:buNone/>
            </a:pPr>
            <a:r>
              <a:rPr b="1" i="0" lang="en-US" sz="2600" u="none" cap="none" strike="noStrike">
                <a:solidFill>
                  <a:srgbClr val="2A1D12"/>
                </a:solidFill>
                <a:latin typeface="Calibri"/>
                <a:ea typeface="Calibri"/>
                <a:cs typeface="Calibri"/>
                <a:sym typeface="Calibri"/>
              </a:rPr>
              <a:t>Valor pedagógico: los estudiantes como protagonistas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8" name="Google Shape;208;p12"/>
          <p:cNvSpPr/>
          <p:nvPr/>
        </p:nvSpPr>
        <p:spPr>
          <a:xfrm>
            <a:off x="914400" y="1783080"/>
            <a:ext cx="566928" cy="566928"/>
          </a:xfrm>
          <a:prstGeom prst="ellipse">
            <a:avLst/>
          </a:prstGeom>
          <a:solidFill>
            <a:srgbClr val="9B3D0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ptx_build/icons/student.png" id="209" name="Google Shape;209;p1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51560" y="1920240"/>
            <a:ext cx="292608" cy="292608"/>
          </a:xfrm>
          <a:prstGeom prst="rect">
            <a:avLst/>
          </a:prstGeom>
          <a:noFill/>
          <a:ln>
            <a:noFill/>
          </a:ln>
        </p:spPr>
      </p:pic>
      <p:sp>
        <p:nvSpPr>
          <p:cNvPr id="210" name="Google Shape;210;p12"/>
          <p:cNvSpPr txBox="1"/>
          <p:nvPr/>
        </p:nvSpPr>
        <p:spPr>
          <a:xfrm>
            <a:off x="1691640" y="1764792"/>
            <a:ext cx="90525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A1D12"/>
              </a:buClr>
              <a:buSzPts val="1600"/>
              <a:buFont typeface="Calibri"/>
              <a:buNone/>
            </a:pPr>
            <a:r>
              <a:rPr b="1" i="0" lang="en-US" sz="1900" u="none" cap="none" strike="noStrike">
                <a:solidFill>
                  <a:srgbClr val="2A1D12"/>
                </a:solidFill>
                <a:latin typeface="Calibri"/>
                <a:ea typeface="Calibri"/>
                <a:cs typeface="Calibri"/>
                <a:sym typeface="Calibri"/>
              </a:rPr>
              <a:t>Construyen y monitorean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" name="Google Shape;211;p12"/>
          <p:cNvSpPr txBox="1"/>
          <p:nvPr/>
        </p:nvSpPr>
        <p:spPr>
          <a:xfrm>
            <a:off x="1691640" y="2075688"/>
            <a:ext cx="90525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A7A6A"/>
              </a:buClr>
              <a:buSzPts val="1350"/>
              <a:buFont typeface="Calibri"/>
              <a:buNone/>
            </a:pPr>
            <a:r>
              <a:rPr b="0" i="0" lang="en-US" sz="1600" u="none" cap="none" strike="noStrike">
                <a:solidFill>
                  <a:srgbClr val="8A7A6A"/>
                </a:solidFill>
                <a:latin typeface="Calibri"/>
                <a:ea typeface="Calibri"/>
                <a:cs typeface="Calibri"/>
                <a:sym typeface="Calibri"/>
              </a:rPr>
              <a:t>Participan de la instalación, calibración y seguimiento de sus propios sensores.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2" name="Google Shape;212;p12"/>
          <p:cNvSpPr/>
          <p:nvPr/>
        </p:nvSpPr>
        <p:spPr>
          <a:xfrm>
            <a:off x="914400" y="2770632"/>
            <a:ext cx="566928" cy="566928"/>
          </a:xfrm>
          <a:prstGeom prst="ellipse">
            <a:avLst/>
          </a:prstGeom>
          <a:solidFill>
            <a:srgbClr val="9B3D0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ptx_build/icons/laptop.png" id="213" name="Google Shape;213;p12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051560" y="2907792"/>
            <a:ext cx="292608" cy="292608"/>
          </a:xfrm>
          <a:prstGeom prst="rect">
            <a:avLst/>
          </a:prstGeom>
          <a:noFill/>
          <a:ln>
            <a:noFill/>
          </a:ln>
        </p:spPr>
      </p:pic>
      <p:sp>
        <p:nvSpPr>
          <p:cNvPr id="214" name="Google Shape;214;p12"/>
          <p:cNvSpPr txBox="1"/>
          <p:nvPr/>
        </p:nvSpPr>
        <p:spPr>
          <a:xfrm>
            <a:off x="1691640" y="2752344"/>
            <a:ext cx="90525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A1D12"/>
              </a:buClr>
              <a:buSzPts val="1600"/>
              <a:buFont typeface="Calibri"/>
              <a:buNone/>
            </a:pPr>
            <a:r>
              <a:rPr b="1" i="0" lang="en-US" sz="1900" u="none" cap="none" strike="noStrike">
                <a:solidFill>
                  <a:srgbClr val="2A1D12"/>
                </a:solidFill>
                <a:latin typeface="Calibri"/>
                <a:ea typeface="Calibri"/>
                <a:cs typeface="Calibri"/>
                <a:sym typeface="Calibri"/>
              </a:rPr>
              <a:t>Aprenden haciendo (STEAM)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5" name="Google Shape;215;p12"/>
          <p:cNvSpPr txBox="1"/>
          <p:nvPr/>
        </p:nvSpPr>
        <p:spPr>
          <a:xfrm>
            <a:off x="1691640" y="3063240"/>
            <a:ext cx="90525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A7A6A"/>
              </a:buClr>
              <a:buSzPts val="1350"/>
              <a:buFont typeface="Calibri"/>
              <a:buNone/>
            </a:pPr>
            <a:r>
              <a:rPr b="0" i="0" lang="en-US" sz="1600" u="none" cap="none" strike="noStrike">
                <a:solidFill>
                  <a:srgbClr val="8A7A6A"/>
                </a:solidFill>
                <a:latin typeface="Calibri"/>
                <a:ea typeface="Calibri"/>
                <a:cs typeface="Calibri"/>
                <a:sym typeface="Calibri"/>
              </a:rPr>
              <a:t>Ciencias ambientales, análisis de datos y tecnología, con herramientas reales.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6" name="Google Shape;216;p12"/>
          <p:cNvSpPr/>
          <p:nvPr/>
        </p:nvSpPr>
        <p:spPr>
          <a:xfrm>
            <a:off x="914400" y="3758184"/>
            <a:ext cx="566928" cy="566928"/>
          </a:xfrm>
          <a:prstGeom prst="ellipse">
            <a:avLst/>
          </a:prstGeom>
          <a:solidFill>
            <a:srgbClr val="9B3D0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ptx_build/icons/flag.png" id="217" name="Google Shape;217;p12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051560" y="3895344"/>
            <a:ext cx="292608" cy="292608"/>
          </a:xfrm>
          <a:prstGeom prst="rect">
            <a:avLst/>
          </a:prstGeom>
          <a:noFill/>
          <a:ln>
            <a:noFill/>
          </a:ln>
        </p:spPr>
      </p:pic>
      <p:sp>
        <p:nvSpPr>
          <p:cNvPr id="218" name="Google Shape;218;p12"/>
          <p:cNvSpPr txBox="1"/>
          <p:nvPr/>
        </p:nvSpPr>
        <p:spPr>
          <a:xfrm>
            <a:off x="1691640" y="3739896"/>
            <a:ext cx="90525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A1D12"/>
              </a:buClr>
              <a:buSzPts val="1600"/>
              <a:buFont typeface="Calibri"/>
              <a:buNone/>
            </a:pPr>
            <a:r>
              <a:rPr b="1" i="0" lang="en-US" sz="1900" u="none" cap="none" strike="noStrike">
                <a:solidFill>
                  <a:srgbClr val="2A1D12"/>
                </a:solidFill>
                <a:latin typeface="Calibri"/>
                <a:ea typeface="Calibri"/>
                <a:cs typeface="Calibri"/>
                <a:sym typeface="Calibri"/>
              </a:rPr>
              <a:t>Ferias y proyectos escolares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9" name="Google Shape;219;p12"/>
          <p:cNvSpPr txBox="1"/>
          <p:nvPr/>
        </p:nvSpPr>
        <p:spPr>
          <a:xfrm>
            <a:off x="1691640" y="4050792"/>
            <a:ext cx="90525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A7A6A"/>
              </a:buClr>
              <a:buSzPts val="1350"/>
              <a:buFont typeface="Calibri"/>
              <a:buNone/>
            </a:pPr>
            <a:r>
              <a:rPr b="0" i="0" lang="en-US" sz="1600" u="none" cap="none" strike="noStrike">
                <a:solidFill>
                  <a:srgbClr val="8A7A6A"/>
                </a:solidFill>
                <a:latin typeface="Calibri"/>
                <a:ea typeface="Calibri"/>
                <a:cs typeface="Calibri"/>
                <a:sym typeface="Calibri"/>
              </a:rPr>
              <a:t>Datos propios y locales para trabajos de investigación y ferias de ciencia.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0" name="Google Shape;220;p12"/>
          <p:cNvSpPr/>
          <p:nvPr/>
        </p:nvSpPr>
        <p:spPr>
          <a:xfrm>
            <a:off x="914400" y="4745736"/>
            <a:ext cx="566928" cy="566928"/>
          </a:xfrm>
          <a:prstGeom prst="ellipse">
            <a:avLst/>
          </a:prstGeom>
          <a:solidFill>
            <a:srgbClr val="9B3D0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ptx_build/icons/check.png" id="221" name="Google Shape;221;p12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1051560" y="4882896"/>
            <a:ext cx="292608" cy="292608"/>
          </a:xfrm>
          <a:prstGeom prst="rect">
            <a:avLst/>
          </a:prstGeom>
          <a:noFill/>
          <a:ln>
            <a:noFill/>
          </a:ln>
        </p:spPr>
      </p:pic>
      <p:sp>
        <p:nvSpPr>
          <p:cNvPr id="222" name="Google Shape;222;p12"/>
          <p:cNvSpPr txBox="1"/>
          <p:nvPr/>
        </p:nvSpPr>
        <p:spPr>
          <a:xfrm>
            <a:off x="1691640" y="4727448"/>
            <a:ext cx="90525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A1D12"/>
              </a:buClr>
              <a:buSzPts val="1600"/>
              <a:buFont typeface="Calibri"/>
              <a:buNone/>
            </a:pPr>
            <a:r>
              <a:rPr b="1" i="0" lang="en-US" sz="1900" u="none" cap="none" strike="noStrike">
                <a:solidFill>
                  <a:srgbClr val="2A1D12"/>
                </a:solidFill>
                <a:latin typeface="Calibri"/>
                <a:ea typeface="Calibri"/>
                <a:cs typeface="Calibri"/>
                <a:sym typeface="Calibri"/>
              </a:rPr>
              <a:t>Responsabilidad ambiental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3" name="Google Shape;223;p12"/>
          <p:cNvSpPr txBox="1"/>
          <p:nvPr/>
        </p:nvSpPr>
        <p:spPr>
          <a:xfrm>
            <a:off x="1691640" y="5038344"/>
            <a:ext cx="90525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A7A6A"/>
              </a:buClr>
              <a:buSzPts val="1350"/>
              <a:buFont typeface="Calibri"/>
              <a:buNone/>
            </a:pPr>
            <a:r>
              <a:rPr b="0" i="0" lang="en-US" sz="1600" u="none" cap="none" strike="noStrike">
                <a:solidFill>
                  <a:srgbClr val="8A7A6A"/>
                </a:solidFill>
                <a:latin typeface="Calibri"/>
                <a:ea typeface="Calibri"/>
                <a:cs typeface="Calibri"/>
                <a:sym typeface="Calibri"/>
              </a:rPr>
              <a:t>Construyen conciencia y pertenencia sobre la calidad del aire de su comunidad.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12"/>
          <p:cNvSpPr txBox="1"/>
          <p:nvPr/>
        </p:nvSpPr>
        <p:spPr>
          <a:xfrm>
            <a:off x="11457432" y="6400800"/>
            <a:ext cx="4572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8A7A6A"/>
              </a:buClr>
              <a:buSzPts val="1000"/>
              <a:buFont typeface="Calibri"/>
              <a:buNone/>
            </a:pPr>
            <a:r>
              <a:rPr b="0" i="0" lang="en-US" sz="1250" u="none" cap="none" strike="noStrike">
                <a:solidFill>
                  <a:srgbClr val="8A7A6A"/>
                </a:solidFill>
                <a:latin typeface="Calibri"/>
                <a:ea typeface="Calibri"/>
                <a:cs typeface="Calibri"/>
                <a:sym typeface="Calibri"/>
              </a:rPr>
              <a:t>10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5" name="Google Shape;225;p12"/>
          <p:cNvSpPr txBox="1"/>
          <p:nvPr/>
        </p:nvSpPr>
        <p:spPr>
          <a:xfrm>
            <a:off x="548640" y="6400800"/>
            <a:ext cx="4572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A7A6A"/>
              </a:buClr>
              <a:buSzPts val="1000"/>
              <a:buFont typeface="Calibri"/>
              <a:buNone/>
            </a:pPr>
            <a:r>
              <a:rPr b="0" i="0" lang="en-US" sz="1250" u="none" cap="none" strike="noStrike">
                <a:solidFill>
                  <a:srgbClr val="8A7A6A"/>
                </a:solidFill>
                <a:latin typeface="Calibri"/>
                <a:ea typeface="Calibri"/>
                <a:cs typeface="Calibri"/>
                <a:sym typeface="Calibri"/>
              </a:rPr>
              <a:t>Ciencia Ciudadana Ambiental · Saladillo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7F2"/>
        </a:solidFill>
      </p:bgPr>
    </p:bg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3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9B3D0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ptx_build/icons/ministerio.png" id="232" name="Google Shape;232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85800" y="640080"/>
            <a:ext cx="292608" cy="292608"/>
          </a:xfrm>
          <a:prstGeom prst="rect">
            <a:avLst/>
          </a:prstGeom>
          <a:noFill/>
          <a:ln>
            <a:noFill/>
          </a:ln>
        </p:spPr>
      </p:pic>
      <p:sp>
        <p:nvSpPr>
          <p:cNvPr id="233" name="Google Shape;233;p13"/>
          <p:cNvSpPr txBox="1"/>
          <p:nvPr/>
        </p:nvSpPr>
        <p:spPr>
          <a:xfrm>
            <a:off x="1325880" y="457200"/>
            <a:ext cx="102412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A1D12"/>
              </a:buClr>
              <a:buSzPts val="2400"/>
              <a:buFont typeface="Calibri"/>
              <a:buNone/>
            </a:pPr>
            <a:r>
              <a:rPr b="1" i="0" lang="en-US" sz="2400" u="none" cap="none" strike="noStrike">
                <a:solidFill>
                  <a:srgbClr val="2A1D12"/>
                </a:solidFill>
                <a:latin typeface="Calibri"/>
                <a:ea typeface="Calibri"/>
                <a:cs typeface="Calibri"/>
                <a:sym typeface="Calibri"/>
              </a:rPr>
              <a:t>Una futura aliada: el Ministerio de Ambiente bonaerense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4" name="Google Shape;234;p13"/>
          <p:cNvSpPr txBox="1"/>
          <p:nvPr/>
        </p:nvSpPr>
        <p:spPr>
          <a:xfrm>
            <a:off x="914400" y="1691640"/>
            <a:ext cx="60350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B3D00"/>
              </a:buClr>
              <a:buSzPts val="1200"/>
              <a:buFont typeface="Calibri"/>
              <a:buNone/>
            </a:pPr>
            <a:r>
              <a:rPr b="1" i="0" lang="en-US" u="none" cap="none" strike="noStrike">
                <a:solidFill>
                  <a:srgbClr val="9B3D00"/>
                </a:solidFill>
                <a:latin typeface="Calibri"/>
                <a:ea typeface="Calibri"/>
                <a:cs typeface="Calibri"/>
                <a:sym typeface="Calibri"/>
              </a:rPr>
              <a:t>RED DE REFERENCIA YA EXISTENTE</a:t>
            </a:r>
            <a:endParaRPr b="0" i="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5" name="Google Shape;235;p13"/>
          <p:cNvSpPr txBox="1"/>
          <p:nvPr/>
        </p:nvSpPr>
        <p:spPr>
          <a:xfrm>
            <a:off x="914400" y="2057400"/>
            <a:ext cx="6035040" cy="3749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-234950" lvl="0" marL="22860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2A1D12"/>
              </a:buClr>
              <a:buSzPts val="1500"/>
              <a:buFont typeface="Calibri"/>
              <a:buChar char="•"/>
            </a:pPr>
            <a:r>
              <a:rPr b="0" i="0" lang="en-US" sz="1600" u="none" cap="none" strike="noStrike">
                <a:solidFill>
                  <a:srgbClr val="2A1D12"/>
                </a:solidFill>
                <a:latin typeface="Calibri"/>
                <a:ea typeface="Calibri"/>
                <a:cs typeface="Calibri"/>
                <a:sym typeface="Calibri"/>
              </a:rPr>
              <a:t>Opera estaciones fijas de referencia, alineadas a estándares EPA (Decreto 1074/2018), en Dock Sud, La Matanza, Zárate, Bahía Blanca, La Plata, Berisso y Ensenada.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34950" lvl="0" marL="228600" marR="0" rtl="0" algn="l">
              <a:lnSpc>
                <a:spcPct val="120000"/>
              </a:lnSpc>
              <a:spcBef>
                <a:spcPts val="1200"/>
              </a:spcBef>
              <a:spcAft>
                <a:spcPts val="0"/>
              </a:spcAft>
              <a:buClr>
                <a:srgbClr val="2A1D12"/>
              </a:buClr>
              <a:buSzPts val="1500"/>
              <a:buFont typeface="Calibri"/>
              <a:buChar char="•"/>
            </a:pPr>
            <a:r>
              <a:rPr b="0" i="0" lang="en-US" sz="1600" u="none" cap="none" strike="noStrike">
                <a:solidFill>
                  <a:srgbClr val="2A1D12"/>
                </a:solidFill>
                <a:latin typeface="Calibri"/>
                <a:ea typeface="Calibri"/>
                <a:cs typeface="Calibri"/>
                <a:sym typeface="Calibri"/>
              </a:rPr>
              <a:t>Sumó en 2025 cuatro estaciones nuevas sobre la Cuenca del Río Reconquista, financiadas junto al BID.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34950" lvl="0" marL="228600" marR="0" rtl="0" algn="l">
              <a:lnSpc>
                <a:spcPct val="120000"/>
              </a:lnSpc>
              <a:spcBef>
                <a:spcPts val="1200"/>
              </a:spcBef>
              <a:spcAft>
                <a:spcPts val="0"/>
              </a:spcAft>
              <a:buClr>
                <a:srgbClr val="2A1D12"/>
              </a:buClr>
              <a:buSzPts val="1500"/>
              <a:buFont typeface="Calibri"/>
              <a:buChar char="•"/>
            </a:pPr>
            <a:r>
              <a:rPr b="0" i="0" lang="en-US" sz="1600" u="none" cap="none" strike="noStrike">
                <a:solidFill>
                  <a:srgbClr val="2A1D12"/>
                </a:solidFill>
                <a:latin typeface="Calibri"/>
                <a:ea typeface="Calibri"/>
                <a:cs typeface="Calibri"/>
                <a:sym typeface="Calibri"/>
              </a:rPr>
              <a:t>Son equipos de referencia, no de bajo costo: exactamente el complemento que le falta a una red escolar como esta.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6" name="Google Shape;236;p13"/>
          <p:cNvSpPr/>
          <p:nvPr/>
        </p:nvSpPr>
        <p:spPr>
          <a:xfrm>
            <a:off x="7360920" y="1691640"/>
            <a:ext cx="4206240" cy="4343400"/>
          </a:xfrm>
          <a:prstGeom prst="roundRect">
            <a:avLst>
              <a:gd fmla="val 2609" name="adj"/>
            </a:avLst>
          </a:prstGeom>
          <a:solidFill>
            <a:srgbClr val="2E282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237" name="Google Shape;237;p13"/>
          <p:cNvSpPr txBox="1"/>
          <p:nvPr/>
        </p:nvSpPr>
        <p:spPr>
          <a:xfrm>
            <a:off x="7680960" y="1965960"/>
            <a:ext cx="3566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84800"/>
              </a:buClr>
              <a:buSzPts val="1100"/>
              <a:buFont typeface="Calibri"/>
              <a:buNone/>
            </a:pPr>
            <a:r>
              <a:rPr b="1" i="0" lang="en-US" sz="1250" u="none" cap="none" strike="noStrike">
                <a:solidFill>
                  <a:srgbClr val="B84800"/>
                </a:solidFill>
                <a:latin typeface="Calibri"/>
                <a:ea typeface="Calibri"/>
                <a:cs typeface="Calibri"/>
                <a:sym typeface="Calibri"/>
              </a:rPr>
              <a:t>LA OPORTUNIDAD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8" name="Google Shape;238;p13"/>
          <p:cNvSpPr txBox="1"/>
          <p:nvPr/>
        </p:nvSpPr>
        <p:spPr>
          <a:xfrm>
            <a:off x="7680960" y="2240280"/>
            <a:ext cx="356616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8DFD6"/>
              </a:buClr>
              <a:buSzPts val="1400"/>
              <a:buFont typeface="Calibri"/>
              <a:buNone/>
            </a:pPr>
            <a:r>
              <a:rPr b="0" i="0" lang="en-US" sz="1550" u="none" cap="none" strike="noStrike">
                <a:solidFill>
                  <a:srgbClr val="E8DFD6"/>
                </a:solidFill>
                <a:latin typeface="Calibri"/>
                <a:ea typeface="Calibri"/>
                <a:cs typeface="Calibri"/>
                <a:sym typeface="Calibri"/>
              </a:rPr>
              <a:t>Co-localizar y calibrar en conjunto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9" name="Google Shape;239;p13"/>
          <p:cNvSpPr txBox="1"/>
          <p:nvPr/>
        </p:nvSpPr>
        <p:spPr>
          <a:xfrm>
            <a:off x="7680960" y="2926080"/>
            <a:ext cx="3566160" cy="1554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0" i="0" lang="en-US" sz="14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El mismo esquema que ya conectó a AirGradient con ACUMAR (ver Trayectoria) podría aplicarse acá: contrastar los sensores escolares de Saladillo contra una estación de referencia provincial.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40" name="Google Shape;240;p13"/>
          <p:cNvCxnSpPr/>
          <p:nvPr/>
        </p:nvCxnSpPr>
        <p:spPr>
          <a:xfrm>
            <a:off x="7680960" y="4617720"/>
            <a:ext cx="3566160" cy="0"/>
          </a:xfrm>
          <a:prstGeom prst="straightConnector1">
            <a:avLst/>
          </a:prstGeom>
          <a:noFill/>
          <a:ln cap="flat" cmpd="sng" w="12700">
            <a:solidFill>
              <a:srgbClr val="534A3D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41" name="Google Shape;241;p13"/>
          <p:cNvSpPr txBox="1"/>
          <p:nvPr/>
        </p:nvSpPr>
        <p:spPr>
          <a:xfrm>
            <a:off x="7680960" y="4754880"/>
            <a:ext cx="356616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C9BEB2"/>
              </a:buClr>
              <a:buSzPts val="1250"/>
              <a:buFont typeface="Calibri"/>
              <a:buNone/>
            </a:pPr>
            <a:r>
              <a:rPr b="0" i="1" lang="en-US" sz="1400" u="none" cap="none" strike="noStrike">
                <a:solidFill>
                  <a:srgbClr val="C9BEB2"/>
                </a:solidFill>
                <a:latin typeface="Calibri"/>
                <a:ea typeface="Calibri"/>
                <a:cs typeface="Calibri"/>
                <a:sym typeface="Calibri"/>
              </a:rPr>
              <a:t>Ganar precisión sin perder el volumen y la cercanía del monitoreo de bajo costo.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2" name="Google Shape;242;p13"/>
          <p:cNvSpPr txBox="1"/>
          <p:nvPr/>
        </p:nvSpPr>
        <p:spPr>
          <a:xfrm>
            <a:off x="914400" y="6108192"/>
            <a:ext cx="103327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A7A6A"/>
              </a:buClr>
              <a:buSzPts val="950"/>
              <a:buFont typeface="Calibri"/>
              <a:buNone/>
            </a:pPr>
            <a:r>
              <a:rPr b="0" i="0" lang="en-US" sz="1200" u="none" cap="none" strike="noStrike">
                <a:solidFill>
                  <a:srgbClr val="8A7A6A"/>
                </a:solidFill>
                <a:latin typeface="Calibri"/>
                <a:ea typeface="Calibri"/>
                <a:cs typeface="Calibri"/>
                <a:sym typeface="Calibri"/>
              </a:rPr>
              <a:t>Fuentes: Ministerio de Ambiente de la Provincia de Buenos Aires (ex-OPDS) · Informe de Gestión 2025.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3" name="Google Shape;243;p13"/>
          <p:cNvSpPr txBox="1"/>
          <p:nvPr/>
        </p:nvSpPr>
        <p:spPr>
          <a:xfrm>
            <a:off x="11457432" y="6400800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8A7A6A"/>
              </a:buClr>
              <a:buSzPts val="1000"/>
              <a:buFont typeface="Calibri"/>
              <a:buNone/>
            </a:pPr>
            <a:r>
              <a:rPr lang="en-US" sz="1250">
                <a:solidFill>
                  <a:srgbClr val="8A7A6A"/>
                </a:solidFill>
                <a:latin typeface="Calibri"/>
                <a:ea typeface="Calibri"/>
                <a:cs typeface="Calibri"/>
                <a:sym typeface="Calibri"/>
              </a:rPr>
              <a:t>11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4" name="Google Shape;244;p13"/>
          <p:cNvSpPr txBox="1"/>
          <p:nvPr/>
        </p:nvSpPr>
        <p:spPr>
          <a:xfrm>
            <a:off x="548640" y="6400800"/>
            <a:ext cx="4572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A7A6A"/>
              </a:buClr>
              <a:buSzPts val="1000"/>
              <a:buFont typeface="Calibri"/>
              <a:buNone/>
            </a:pPr>
            <a:r>
              <a:rPr b="0" i="0" lang="en-US" sz="1250" u="none" cap="none" strike="noStrike">
                <a:solidFill>
                  <a:srgbClr val="8A7A6A"/>
                </a:solidFill>
                <a:latin typeface="Calibri"/>
                <a:ea typeface="Calibri"/>
                <a:cs typeface="Calibri"/>
                <a:sym typeface="Calibri"/>
              </a:rPr>
              <a:t>Ciencia Ciudadana Ambiental · Saladillo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7F2"/>
        </a:solidFill>
      </p:bgPr>
    </p:bg>
    <p:spTree>
      <p:nvGrpSpPr>
        <p:cNvPr id="249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p14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9B3D0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ptx_build/icons/ley.png" id="251" name="Google Shape;251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85800" y="640080"/>
            <a:ext cx="292608" cy="292608"/>
          </a:xfrm>
          <a:prstGeom prst="rect">
            <a:avLst/>
          </a:prstGeom>
          <a:noFill/>
          <a:ln>
            <a:noFill/>
          </a:ln>
        </p:spPr>
      </p:pic>
      <p:sp>
        <p:nvSpPr>
          <p:cNvPr id="252" name="Google Shape;252;p14"/>
          <p:cNvSpPr txBox="1"/>
          <p:nvPr/>
        </p:nvSpPr>
        <p:spPr>
          <a:xfrm>
            <a:off x="1325880" y="457200"/>
            <a:ext cx="102412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A1D12"/>
              </a:buClr>
              <a:buSzPts val="2400"/>
              <a:buFont typeface="Calibri"/>
              <a:buNone/>
            </a:pPr>
            <a:r>
              <a:rPr b="1" i="0" lang="en-US" sz="2400" u="none" cap="none" strike="noStrike">
                <a:solidFill>
                  <a:srgbClr val="2A1D12"/>
                </a:solidFill>
                <a:latin typeface="Calibri"/>
                <a:ea typeface="Calibri"/>
                <a:cs typeface="Calibri"/>
                <a:sym typeface="Calibri"/>
              </a:rPr>
              <a:t>Una aplicación territorial de la Educación Ambiental Integral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3" name="Google Shape;253;p14"/>
          <p:cNvSpPr txBox="1"/>
          <p:nvPr/>
        </p:nvSpPr>
        <p:spPr>
          <a:xfrm>
            <a:off x="914400" y="1828800"/>
            <a:ext cx="103327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B3D00"/>
              </a:buClr>
              <a:buSzPts val="1200"/>
              <a:buFont typeface="Calibri"/>
              <a:buNone/>
            </a:pPr>
            <a:r>
              <a:rPr b="1" i="0" lang="en-US" sz="1350" u="none" cap="none" strike="noStrike">
                <a:solidFill>
                  <a:srgbClr val="9B3D00"/>
                </a:solidFill>
                <a:latin typeface="Calibri"/>
                <a:ea typeface="Calibri"/>
                <a:cs typeface="Calibri"/>
                <a:sym typeface="Calibri"/>
              </a:rPr>
              <a:t>LEY 27.621 (2021)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4" name="Google Shape;254;p14"/>
          <p:cNvSpPr txBox="1"/>
          <p:nvPr/>
        </p:nvSpPr>
        <p:spPr>
          <a:xfrm>
            <a:off x="914400" y="2194560"/>
            <a:ext cx="1033272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2A1D12"/>
              </a:buClr>
              <a:buSzPts val="1600"/>
              <a:buFont typeface="Calibri"/>
              <a:buNone/>
            </a:pPr>
            <a:r>
              <a:rPr b="0" i="0" lang="en-US" sz="1700" u="none" cap="none" strike="noStrike">
                <a:solidFill>
                  <a:srgbClr val="2A1D12"/>
                </a:solidFill>
                <a:latin typeface="Calibri"/>
                <a:ea typeface="Calibri"/>
                <a:cs typeface="Calibri"/>
                <a:sym typeface="Calibri"/>
              </a:rPr>
              <a:t>Establece el derecho a la Educación Ambiental Integral (EAI) como política pública nacional.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5" name="Google Shape;255;p14"/>
          <p:cNvSpPr/>
          <p:nvPr/>
        </p:nvSpPr>
        <p:spPr>
          <a:xfrm>
            <a:off x="914400" y="3017520"/>
            <a:ext cx="10332720" cy="2194560"/>
          </a:xfrm>
          <a:prstGeom prst="roundRect">
            <a:avLst>
              <a:gd fmla="val 5000" name="adj"/>
            </a:avLst>
          </a:prstGeom>
          <a:solidFill>
            <a:srgbClr val="F0EBE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256" name="Google Shape;256;p14"/>
          <p:cNvSpPr txBox="1"/>
          <p:nvPr/>
        </p:nvSpPr>
        <p:spPr>
          <a:xfrm>
            <a:off x="1280160" y="3246120"/>
            <a:ext cx="960120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9B3D00"/>
              </a:buClr>
              <a:buSzPts val="1800"/>
              <a:buFont typeface="Calibri"/>
              <a:buNone/>
            </a:pPr>
            <a:r>
              <a:rPr b="0" i="1" lang="en-US" sz="1900" u="none" cap="none" strike="noStrike">
                <a:solidFill>
                  <a:srgbClr val="9B3D00"/>
                </a:solidFill>
                <a:latin typeface="Calibri"/>
                <a:ea typeface="Calibri"/>
                <a:cs typeface="Calibri"/>
                <a:sym typeface="Calibri"/>
              </a:rPr>
              <a:t>Este proyecto no reemplaza la currícula: le da datos reales, propios y locales para trabajarla en el aula. El desarrollo de contenidos específicos y la capacitación docente se definen en conjunto con el equipo de educación.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7" name="Google Shape;257;p14"/>
          <p:cNvSpPr txBox="1"/>
          <p:nvPr/>
        </p:nvSpPr>
        <p:spPr>
          <a:xfrm>
            <a:off x="914400" y="5577840"/>
            <a:ext cx="103327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A7A6A"/>
              </a:buClr>
              <a:buSzPts val="1000"/>
              <a:buFont typeface="Calibri"/>
              <a:buNone/>
            </a:pPr>
            <a:r>
              <a:rPr b="0" i="0" lang="en-US" sz="1250" u="none" cap="none" strike="noStrike">
                <a:solidFill>
                  <a:srgbClr val="8A7A6A"/>
                </a:solidFill>
                <a:latin typeface="Calibri"/>
                <a:ea typeface="Calibri"/>
                <a:cs typeface="Calibri"/>
                <a:sym typeface="Calibri"/>
              </a:rPr>
              <a:t>Fuente: Ley 27.621 · Educación Ambiental Integral, DGCyE — Provincia de Buenos Aires.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8" name="Google Shape;258;p14"/>
          <p:cNvSpPr txBox="1"/>
          <p:nvPr/>
        </p:nvSpPr>
        <p:spPr>
          <a:xfrm>
            <a:off x="11457432" y="6400800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8A7A6A"/>
              </a:buClr>
              <a:buSzPts val="1000"/>
              <a:buFont typeface="Calibri"/>
              <a:buNone/>
            </a:pPr>
            <a:r>
              <a:rPr b="0" i="0" lang="en-US" sz="1250" u="none" cap="none" strike="noStrike">
                <a:solidFill>
                  <a:srgbClr val="8A7A6A"/>
                </a:solidFill>
                <a:latin typeface="Calibri"/>
                <a:ea typeface="Calibri"/>
                <a:cs typeface="Calibri"/>
                <a:sym typeface="Calibri"/>
              </a:rPr>
              <a:t>12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9" name="Google Shape;259;p14"/>
          <p:cNvSpPr txBox="1"/>
          <p:nvPr/>
        </p:nvSpPr>
        <p:spPr>
          <a:xfrm>
            <a:off x="548640" y="6400800"/>
            <a:ext cx="4572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A7A6A"/>
              </a:buClr>
              <a:buSzPts val="1000"/>
              <a:buFont typeface="Calibri"/>
              <a:buNone/>
            </a:pPr>
            <a:r>
              <a:rPr b="0" i="0" lang="en-US" sz="1250" u="none" cap="none" strike="noStrike">
                <a:solidFill>
                  <a:srgbClr val="8A7A6A"/>
                </a:solidFill>
                <a:latin typeface="Calibri"/>
                <a:ea typeface="Calibri"/>
                <a:cs typeface="Calibri"/>
                <a:sym typeface="Calibri"/>
              </a:rPr>
              <a:t>Ciencia Ciudadana Ambiental · Saladillo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7F2"/>
        </a:solidFill>
      </p:bgPr>
    </p:bg>
    <p:spTree>
      <p:nvGrpSpPr>
        <p:cNvPr id="264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p15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9B3D0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ptx_build/icons/hoja_ruta.png" id="266" name="Google Shape;266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85800" y="640080"/>
            <a:ext cx="292608" cy="292608"/>
          </a:xfrm>
          <a:prstGeom prst="rect">
            <a:avLst/>
          </a:prstGeom>
          <a:noFill/>
          <a:ln>
            <a:noFill/>
          </a:ln>
        </p:spPr>
      </p:pic>
      <p:sp>
        <p:nvSpPr>
          <p:cNvPr id="267" name="Google Shape;267;p15"/>
          <p:cNvSpPr txBox="1"/>
          <p:nvPr/>
        </p:nvSpPr>
        <p:spPr>
          <a:xfrm>
            <a:off x="1325880" y="457200"/>
            <a:ext cx="102412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A1D12"/>
              </a:buClr>
              <a:buSzPts val="2600"/>
              <a:buFont typeface="Calibri"/>
              <a:buNone/>
            </a:pPr>
            <a:r>
              <a:rPr b="1" i="0" lang="en-US" sz="2600" u="none" cap="none" strike="noStrike">
                <a:solidFill>
                  <a:srgbClr val="2A1D12"/>
                </a:solidFill>
                <a:latin typeface="Calibri"/>
                <a:ea typeface="Calibri"/>
                <a:cs typeface="Calibri"/>
                <a:sym typeface="Calibri"/>
              </a:rPr>
              <a:t>Hoja de ruta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68" name="Google Shape;268;p15"/>
          <p:cNvCxnSpPr/>
          <p:nvPr/>
        </p:nvCxnSpPr>
        <p:spPr>
          <a:xfrm>
            <a:off x="2148840" y="2697480"/>
            <a:ext cx="8412480" cy="0"/>
          </a:xfrm>
          <a:prstGeom prst="straightConnector1">
            <a:avLst/>
          </a:prstGeom>
          <a:noFill/>
          <a:ln cap="flat" cmpd="sng" w="25400">
            <a:solidFill>
              <a:srgbClr val="DDD2C4"/>
            </a:solidFill>
            <a:prstDash val="dash"/>
            <a:round/>
            <a:headEnd len="sm" w="sm" type="none"/>
            <a:tailEnd len="sm" w="sm" type="none"/>
          </a:ln>
        </p:spPr>
      </p:cxnSp>
      <p:sp>
        <p:nvSpPr>
          <p:cNvPr id="269" name="Google Shape;269;p15"/>
          <p:cNvSpPr/>
          <p:nvPr/>
        </p:nvSpPr>
        <p:spPr>
          <a:xfrm>
            <a:off x="1828800" y="2377440"/>
            <a:ext cx="640080" cy="640080"/>
          </a:xfrm>
          <a:prstGeom prst="ellipse">
            <a:avLst/>
          </a:prstGeom>
          <a:solidFill>
            <a:srgbClr val="B8480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270" name="Google Shape;270;p15"/>
          <p:cNvSpPr txBox="1"/>
          <p:nvPr/>
        </p:nvSpPr>
        <p:spPr>
          <a:xfrm>
            <a:off x="1828800" y="2377440"/>
            <a:ext cx="6400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Calibri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1" name="Google Shape;271;p15"/>
          <p:cNvSpPr txBox="1"/>
          <p:nvPr/>
        </p:nvSpPr>
        <p:spPr>
          <a:xfrm>
            <a:off x="320040" y="3246120"/>
            <a:ext cx="3657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B3D00"/>
              </a:buClr>
              <a:buSzPts val="1100"/>
              <a:buFont typeface="Calibri"/>
              <a:buNone/>
            </a:pPr>
            <a:r>
              <a:rPr b="1" i="0" lang="en-US" sz="1250" u="none" cap="none" strike="noStrike">
                <a:solidFill>
                  <a:srgbClr val="9B3D00"/>
                </a:solidFill>
                <a:latin typeface="Calibri"/>
                <a:ea typeface="Calibri"/>
                <a:cs typeface="Calibri"/>
                <a:sym typeface="Calibri"/>
              </a:rPr>
              <a:t>EN MARCHA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2" name="Google Shape;272;p15"/>
          <p:cNvSpPr txBox="1"/>
          <p:nvPr/>
        </p:nvSpPr>
        <p:spPr>
          <a:xfrm>
            <a:off x="320040" y="3547872"/>
            <a:ext cx="3657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A1D12"/>
              </a:buClr>
              <a:buSzPts val="1600"/>
              <a:buFont typeface="Calibri"/>
              <a:buNone/>
            </a:pPr>
            <a:r>
              <a:rPr b="1" i="0" lang="en-US" sz="1700" u="none" cap="none" strike="noStrike">
                <a:solidFill>
                  <a:srgbClr val="2A1D12"/>
                </a:solidFill>
                <a:latin typeface="Calibri"/>
                <a:ea typeface="Calibri"/>
                <a:cs typeface="Calibri"/>
                <a:sym typeface="Calibri"/>
              </a:rPr>
              <a:t>Sensores en escuelas piloto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3" name="Google Shape;273;p15"/>
          <p:cNvSpPr txBox="1"/>
          <p:nvPr/>
        </p:nvSpPr>
        <p:spPr>
          <a:xfrm>
            <a:off x="320040" y="4023360"/>
            <a:ext cx="3657600" cy="118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8A7A6A"/>
              </a:buClr>
              <a:buSzPts val="1250"/>
              <a:buFont typeface="Calibri"/>
              <a:buNone/>
            </a:pPr>
            <a:r>
              <a:rPr b="0" i="0" lang="en-US" sz="1400" u="none" cap="none" strike="noStrike">
                <a:solidFill>
                  <a:srgbClr val="8A7A6A"/>
                </a:solidFill>
                <a:latin typeface="Calibri"/>
                <a:ea typeface="Calibri"/>
                <a:cs typeface="Calibri"/>
                <a:sym typeface="Calibri"/>
              </a:rPr>
              <a:t>Primeros equipos instalados; datos ya visibles y en vivo en el portal aq.lemeit.ar.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4" name="Google Shape;274;p15"/>
          <p:cNvSpPr/>
          <p:nvPr/>
        </p:nvSpPr>
        <p:spPr>
          <a:xfrm>
            <a:off x="6035040" y="2377440"/>
            <a:ext cx="640080" cy="640080"/>
          </a:xfrm>
          <a:prstGeom prst="ellipse">
            <a:avLst/>
          </a:prstGeom>
          <a:solidFill>
            <a:srgbClr val="9B3D0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275" name="Google Shape;275;p15"/>
          <p:cNvSpPr txBox="1"/>
          <p:nvPr/>
        </p:nvSpPr>
        <p:spPr>
          <a:xfrm>
            <a:off x="6035040" y="2377440"/>
            <a:ext cx="6400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Calibri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6" name="Google Shape;276;p15"/>
          <p:cNvSpPr txBox="1"/>
          <p:nvPr/>
        </p:nvSpPr>
        <p:spPr>
          <a:xfrm>
            <a:off x="4526280" y="3246120"/>
            <a:ext cx="3657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B3D00"/>
              </a:buClr>
              <a:buSzPts val="1100"/>
              <a:buFont typeface="Calibri"/>
              <a:buNone/>
            </a:pPr>
            <a:r>
              <a:rPr b="1" i="0" lang="en-US" sz="1250" u="none" cap="none" strike="noStrike">
                <a:solidFill>
                  <a:srgbClr val="9B3D00"/>
                </a:solidFill>
                <a:latin typeface="Calibri"/>
                <a:ea typeface="Calibri"/>
                <a:cs typeface="Calibri"/>
                <a:sym typeface="Calibri"/>
              </a:rPr>
              <a:t>PRÓXIMO PASO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7" name="Google Shape;277;p15"/>
          <p:cNvSpPr txBox="1"/>
          <p:nvPr/>
        </p:nvSpPr>
        <p:spPr>
          <a:xfrm>
            <a:off x="4526280" y="3547872"/>
            <a:ext cx="3657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A1D12"/>
              </a:buClr>
              <a:buSzPts val="1600"/>
              <a:buFont typeface="Calibri"/>
              <a:buNone/>
            </a:pPr>
            <a:r>
              <a:rPr b="1" i="0" lang="en-US" sz="1700" u="none" cap="none" strike="noStrike">
                <a:solidFill>
                  <a:srgbClr val="2A1D12"/>
                </a:solidFill>
                <a:latin typeface="Calibri"/>
                <a:ea typeface="Calibri"/>
                <a:cs typeface="Calibri"/>
                <a:sym typeface="Calibri"/>
              </a:rPr>
              <a:t>Talleres con estudiantes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8" name="Google Shape;278;p15"/>
          <p:cNvSpPr txBox="1"/>
          <p:nvPr/>
        </p:nvSpPr>
        <p:spPr>
          <a:xfrm>
            <a:off x="4526280" y="4023360"/>
            <a:ext cx="3657600" cy="118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8A7A6A"/>
              </a:buClr>
              <a:buSzPts val="1250"/>
              <a:buFont typeface="Calibri"/>
              <a:buNone/>
            </a:pPr>
            <a:r>
              <a:rPr b="0" i="0" lang="en-US" sz="1400" u="none" cap="none" strike="noStrike">
                <a:solidFill>
                  <a:srgbClr val="8A7A6A"/>
                </a:solidFill>
                <a:latin typeface="Calibri"/>
                <a:ea typeface="Calibri"/>
                <a:cs typeface="Calibri"/>
                <a:sym typeface="Calibri"/>
              </a:rPr>
              <a:t>Armado y monitoreo participativo, en convenio con escuelas técnicas y universidades.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9" name="Google Shape;279;p15"/>
          <p:cNvSpPr/>
          <p:nvPr/>
        </p:nvSpPr>
        <p:spPr>
          <a:xfrm>
            <a:off x="10241280" y="2377440"/>
            <a:ext cx="640080" cy="640080"/>
          </a:xfrm>
          <a:prstGeom prst="ellipse">
            <a:avLst/>
          </a:prstGeom>
          <a:solidFill>
            <a:srgbClr val="9B3D0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280" name="Google Shape;280;p15"/>
          <p:cNvSpPr txBox="1"/>
          <p:nvPr/>
        </p:nvSpPr>
        <p:spPr>
          <a:xfrm>
            <a:off x="10241280" y="2377440"/>
            <a:ext cx="6400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Calibri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1" name="Google Shape;281;p15"/>
          <p:cNvSpPr txBox="1"/>
          <p:nvPr/>
        </p:nvSpPr>
        <p:spPr>
          <a:xfrm>
            <a:off x="8732520" y="3246120"/>
            <a:ext cx="3657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B3D00"/>
              </a:buClr>
              <a:buSzPts val="1100"/>
              <a:buFont typeface="Calibri"/>
              <a:buNone/>
            </a:pPr>
            <a:r>
              <a:rPr b="1" i="0" lang="en-US" sz="1250" u="none" cap="none" strike="noStrike">
                <a:solidFill>
                  <a:srgbClr val="9B3D00"/>
                </a:solidFill>
                <a:latin typeface="Calibri"/>
                <a:ea typeface="Calibri"/>
                <a:cs typeface="Calibri"/>
                <a:sym typeface="Calibri"/>
              </a:rPr>
              <a:t>META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2" name="Google Shape;282;p15"/>
          <p:cNvSpPr txBox="1"/>
          <p:nvPr/>
        </p:nvSpPr>
        <p:spPr>
          <a:xfrm>
            <a:off x="8732520" y="3547872"/>
            <a:ext cx="3657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A1D12"/>
              </a:buClr>
              <a:buSzPts val="1600"/>
              <a:buFont typeface="Calibri"/>
              <a:buNone/>
            </a:pPr>
            <a:r>
              <a:rPr b="1" i="0" lang="en-US" sz="1700" u="none" cap="none" strike="noStrike">
                <a:solidFill>
                  <a:srgbClr val="2A1D12"/>
                </a:solidFill>
                <a:latin typeface="Calibri"/>
                <a:ea typeface="Calibri"/>
                <a:cs typeface="Calibri"/>
                <a:sym typeface="Calibri"/>
              </a:rPr>
              <a:t>Expansión distrital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3" name="Google Shape;283;p15"/>
          <p:cNvSpPr txBox="1"/>
          <p:nvPr/>
        </p:nvSpPr>
        <p:spPr>
          <a:xfrm>
            <a:off x="8732520" y="4023360"/>
            <a:ext cx="3657600" cy="118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8A7A6A"/>
              </a:buClr>
              <a:buSzPts val="1250"/>
              <a:buFont typeface="Calibri"/>
              <a:buNone/>
            </a:pPr>
            <a:r>
              <a:rPr b="0" i="0" lang="en-US" sz="1400" u="none" cap="none" strike="noStrike">
                <a:solidFill>
                  <a:srgbClr val="8A7A6A"/>
                </a:solidFill>
                <a:latin typeface="Calibri"/>
                <a:ea typeface="Calibri"/>
                <a:cs typeface="Calibri"/>
                <a:sym typeface="Calibri"/>
              </a:rPr>
              <a:t>Sumar escuelas de todos los niveles e impulsar una ordenanza municipal de aire limpio.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4" name="Google Shape;284;p15"/>
          <p:cNvSpPr txBox="1"/>
          <p:nvPr/>
        </p:nvSpPr>
        <p:spPr>
          <a:xfrm>
            <a:off x="11457432" y="6400800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8A7A6A"/>
              </a:buClr>
              <a:buSzPts val="1000"/>
              <a:buFont typeface="Calibri"/>
              <a:buNone/>
            </a:pPr>
            <a:r>
              <a:rPr lang="en-US" sz="1250">
                <a:solidFill>
                  <a:srgbClr val="8A7A6A"/>
                </a:solidFill>
                <a:latin typeface="Calibri"/>
                <a:ea typeface="Calibri"/>
                <a:cs typeface="Calibri"/>
                <a:sym typeface="Calibri"/>
              </a:rPr>
              <a:t>13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5" name="Google Shape;285;p15"/>
          <p:cNvSpPr txBox="1"/>
          <p:nvPr/>
        </p:nvSpPr>
        <p:spPr>
          <a:xfrm>
            <a:off x="548640" y="6400800"/>
            <a:ext cx="4572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A7A6A"/>
              </a:buClr>
              <a:buSzPts val="1000"/>
              <a:buFont typeface="Calibri"/>
              <a:buNone/>
            </a:pPr>
            <a:r>
              <a:rPr b="0" i="0" lang="en-US" sz="1250" u="none" cap="none" strike="noStrike">
                <a:solidFill>
                  <a:srgbClr val="8A7A6A"/>
                </a:solidFill>
                <a:latin typeface="Calibri"/>
                <a:ea typeface="Calibri"/>
                <a:cs typeface="Calibri"/>
                <a:sym typeface="Calibri"/>
              </a:rPr>
              <a:t>Ciencia Ciudadana Ambiental · Saladillo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9B3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40080"/>
            <a:ext cx="292608" cy="29260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457200"/>
            <a:ext cx="1024128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600" b="1">
                <a:solidFill>
                  <a:srgbClr val="2A1D12"/>
                </a:solidFill>
                <a:latin typeface="Calibri"/>
              </a:rPr>
              <a:t>Próxima etapa: 5 escuelas confirmadas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417320"/>
            <a:ext cx="1036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8A7A6A"/>
                </a:solidFill>
                <a:latin typeface="Calibri"/>
              </a:rPr>
              <a:t>Saladillo (3) y el partido de 25 de Mayo (2) — primera expansión de la red fuera de Saladillo.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011680"/>
            <a:ext cx="4800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>
                <a:solidFill>
                  <a:srgbClr val="9B3D00"/>
                </a:solidFill>
                <a:latin typeface="Calibri"/>
              </a:rPr>
              <a:t>INSTITUCIÓN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0" y="2011680"/>
            <a:ext cx="1600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>
                <a:solidFill>
                  <a:srgbClr val="9B3D00"/>
                </a:solidFill>
                <a:latin typeface="Calibri"/>
              </a:rPr>
              <a:t>DISTRITO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0" y="2011680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>
                <a:solidFill>
                  <a:srgbClr val="9B3D00"/>
                </a:solidFill>
                <a:latin typeface="Calibri"/>
              </a:rPr>
              <a:t>ZONA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0" y="2011680"/>
            <a:ext cx="2865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>
                <a:solidFill>
                  <a:srgbClr val="9B3D00"/>
                </a:solidFill>
                <a:latin typeface="Calibri"/>
              </a:rPr>
              <a:t>DIRECCIÓN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" y="2423160"/>
            <a:ext cx="10546080" cy="640080"/>
          </a:xfrm>
          <a:prstGeom prst="roundRect">
            <a:avLst>
              <a:gd name="adj" fmla="val 4500"/>
            </a:avLst>
          </a:prstGeom>
          <a:solidFill>
            <a:srgbClr val="F0EBE2"/>
          </a:solidFill>
          <a:ln>
            <a:noFill/>
          </a:ln>
          <a:effectLst>
            <a:outerShdw blurRad="127000" dist="38100" dir="5400000" algn="bl" rotWithShape="0">
              <a:srgbClr val="2A1D12">
                <a:alpha val="18039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423160"/>
            <a:ext cx="46177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>
                <a:solidFill>
                  <a:srgbClr val="2A1D12"/>
                </a:solidFill>
                <a:latin typeface="Calibri"/>
              </a:rPr>
              <a:t>EES N°2 "Manuel Pardal"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0" y="2423160"/>
            <a:ext cx="14173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0">
                <a:solidFill>
                  <a:srgbClr val="2A1D12"/>
                </a:solidFill>
                <a:latin typeface="Calibri"/>
              </a:rPr>
              <a:t>Saladillo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52360" y="2423160"/>
            <a:ext cx="1097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>
                <a:solidFill>
                  <a:srgbClr val="9B3D00"/>
                </a:solidFill>
                <a:latin typeface="Calibri"/>
              </a:rPr>
              <a:t>Urbana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32520" y="2423160"/>
            <a:ext cx="26822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0">
                <a:solidFill>
                  <a:srgbClr val="8A7A6A"/>
                </a:solidFill>
                <a:latin typeface="Calibri"/>
              </a:rPr>
              <a:t>Calle Pereyra 3046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3154680"/>
            <a:ext cx="10546080" cy="640080"/>
          </a:xfrm>
          <a:prstGeom prst="roundRect">
            <a:avLst>
              <a:gd name="adj" fmla="val 4500"/>
            </a:avLst>
          </a:prstGeom>
          <a:solidFill>
            <a:srgbClr val="F0EBE2"/>
          </a:solidFill>
          <a:ln>
            <a:noFill/>
          </a:ln>
          <a:effectLst>
            <a:outerShdw blurRad="127000" dist="38100" dir="5400000" algn="bl" rotWithShape="0">
              <a:srgbClr val="2A1D12">
                <a:alpha val="18039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3154680"/>
            <a:ext cx="46177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>
                <a:solidFill>
                  <a:srgbClr val="2A1D12"/>
                </a:solidFill>
                <a:latin typeface="Calibri"/>
              </a:rPr>
              <a:t>Instituto Niño Jesús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52160" y="3154680"/>
            <a:ext cx="14173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0">
                <a:solidFill>
                  <a:srgbClr val="2A1D12"/>
                </a:solidFill>
                <a:latin typeface="Calibri"/>
              </a:rPr>
              <a:t>Saladillo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52360" y="3154680"/>
            <a:ext cx="1097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>
                <a:solidFill>
                  <a:srgbClr val="9B3D00"/>
                </a:solidFill>
                <a:latin typeface="Calibri"/>
              </a:rPr>
              <a:t>Urbana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32520" y="3154680"/>
            <a:ext cx="26822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0">
                <a:solidFill>
                  <a:srgbClr val="8A7A6A"/>
                </a:solidFill>
                <a:latin typeface="Calibri"/>
              </a:rPr>
              <a:t>Av. Belgrano 2999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4400" y="3886200"/>
            <a:ext cx="10546080" cy="640080"/>
          </a:xfrm>
          <a:prstGeom prst="roundRect">
            <a:avLst>
              <a:gd name="adj" fmla="val 4500"/>
            </a:avLst>
          </a:prstGeom>
          <a:solidFill>
            <a:srgbClr val="F0EBE2"/>
          </a:solidFill>
          <a:ln>
            <a:noFill/>
          </a:ln>
          <a:effectLst>
            <a:outerShdw blurRad="127000" dist="38100" dir="5400000" algn="bl" rotWithShape="0">
              <a:srgbClr val="2A1D12">
                <a:alpha val="18039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3886200"/>
            <a:ext cx="46177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>
                <a:solidFill>
                  <a:srgbClr val="2A1D12"/>
                </a:solidFill>
                <a:latin typeface="Calibri"/>
              </a:rPr>
              <a:t>Colegio Secundario Madre Teresa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52160" y="3886200"/>
            <a:ext cx="14173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0">
                <a:solidFill>
                  <a:srgbClr val="2A1D12"/>
                </a:solidFill>
                <a:latin typeface="Calibri"/>
              </a:rPr>
              <a:t>Saladillo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52360" y="3886200"/>
            <a:ext cx="1097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>
                <a:solidFill>
                  <a:srgbClr val="D9691F"/>
                </a:solidFill>
                <a:latin typeface="Calibri"/>
              </a:rPr>
              <a:t>Rural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32520" y="3886200"/>
            <a:ext cx="26822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0">
                <a:solidFill>
                  <a:srgbClr val="8A7A6A"/>
                </a:solidFill>
                <a:latin typeface="Calibri"/>
              </a:rPr>
              <a:t>Calle Jauretche e Yrigoyen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14400" y="4617720"/>
            <a:ext cx="10546080" cy="640080"/>
          </a:xfrm>
          <a:prstGeom prst="roundRect">
            <a:avLst>
              <a:gd name="adj" fmla="val 4500"/>
            </a:avLst>
          </a:prstGeom>
          <a:solidFill>
            <a:srgbClr val="F0EBE2"/>
          </a:solidFill>
          <a:ln>
            <a:noFill/>
          </a:ln>
          <a:effectLst>
            <a:outerShdw blurRad="127000" dist="38100" dir="5400000" algn="bl" rotWithShape="0">
              <a:srgbClr val="2A1D12">
                <a:alpha val="18039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51560" y="4617720"/>
            <a:ext cx="46177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>
                <a:solidFill>
                  <a:srgbClr val="2A1D12"/>
                </a:solidFill>
                <a:latin typeface="Calibri"/>
              </a:rPr>
              <a:t>Esc. de Educación Artística N°1 "Lola Mora"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52160" y="4617720"/>
            <a:ext cx="14173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0">
                <a:solidFill>
                  <a:srgbClr val="2A1D12"/>
                </a:solidFill>
                <a:latin typeface="Calibri"/>
              </a:rPr>
              <a:t>25 de Mayo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52360" y="4617720"/>
            <a:ext cx="1097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>
                <a:solidFill>
                  <a:srgbClr val="9B3D00"/>
                </a:solidFill>
                <a:latin typeface="Calibri"/>
              </a:rPr>
              <a:t>Urbana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32520" y="4617720"/>
            <a:ext cx="26822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0">
                <a:solidFill>
                  <a:srgbClr val="8A7A6A"/>
                </a:solidFill>
                <a:latin typeface="Calibri"/>
              </a:rPr>
              <a:t>Calle 7 entre 23 y 24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14400" y="5349240"/>
            <a:ext cx="10546080" cy="640080"/>
          </a:xfrm>
          <a:prstGeom prst="roundRect">
            <a:avLst>
              <a:gd name="adj" fmla="val 4500"/>
            </a:avLst>
          </a:prstGeom>
          <a:solidFill>
            <a:srgbClr val="F0EBE2"/>
          </a:solidFill>
          <a:ln>
            <a:noFill/>
          </a:ln>
          <a:effectLst>
            <a:outerShdw blurRad="127000" dist="38100" dir="5400000" algn="bl" rotWithShape="0">
              <a:srgbClr val="2A1D12">
                <a:alpha val="18039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51560" y="5349240"/>
            <a:ext cx="46177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>
                <a:solidFill>
                  <a:srgbClr val="2A1D12"/>
                </a:solidFill>
                <a:latin typeface="Calibri"/>
              </a:rPr>
              <a:t>Esc. Agraria C.M. Casares (EAS Del Valle)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852160" y="5349240"/>
            <a:ext cx="14173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0">
                <a:solidFill>
                  <a:srgbClr val="2A1D12"/>
                </a:solidFill>
                <a:latin typeface="Calibri"/>
              </a:rPr>
              <a:t>25 de Mayo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52360" y="5349240"/>
            <a:ext cx="1097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>
                <a:solidFill>
                  <a:srgbClr val="D9691F"/>
                </a:solidFill>
                <a:latin typeface="Calibri"/>
              </a:rPr>
              <a:t>Rural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732520" y="5349240"/>
            <a:ext cx="26822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0">
                <a:solidFill>
                  <a:srgbClr val="8A7A6A"/>
                </a:solidFill>
                <a:latin typeface="Calibri"/>
              </a:rPr>
              <a:t>Zona rural, Del Valle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640080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>
                <a:solidFill>
                  <a:srgbClr val="8A7A6A"/>
                </a:solidFill>
                <a:latin typeface="Calibri"/>
              </a:rPr>
              <a:t>Ciencia Ciudadana Ambiental · Saladillo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57432" y="6400800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50">
                <a:solidFill>
                  <a:srgbClr val="8A7A6A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9B3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40080"/>
            <a:ext cx="292608" cy="29260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457200"/>
            <a:ext cx="1024128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600" b="1">
                <a:solidFill>
                  <a:srgbClr val="2A1D12"/>
                </a:solidFill>
                <a:latin typeface="Calibri"/>
              </a:rPr>
              <a:t>Un vacío de monitoreo en el centro de la provincia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417320"/>
            <a:ext cx="1036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0">
                <a:solidFill>
                  <a:srgbClr val="8A7A6A"/>
                </a:solidFill>
                <a:latin typeface="Calibri"/>
              </a:rPr>
              <a:t>Organizaciones como OpenAQ y EPIC (Universidad de Chicago) señalan que buena parte del mundo no produce datos públicos de calidad del aire — y el centro de la provincia de Buenos Aires es un caso de manual.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1966280"/>
            <a:ext cx="3332480" cy="2236194"/>
          </a:xfrm>
          <a:prstGeom prst="roundRect">
            <a:avLst>
              <a:gd name="adj" fmla="val 4500"/>
            </a:avLst>
          </a:prstGeom>
          <a:solidFill>
            <a:srgbClr val="F0EBE2"/>
          </a:solidFill>
          <a:ln>
            <a:noFill/>
          </a:ln>
          <a:effectLst>
            <a:outerShdw blurRad="127000" dist="38100" dir="5400000" algn="bl" rotWithShape="0">
              <a:srgbClr val="2A1D12">
                <a:alpha val="18039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purpleair_fin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" y="2057720"/>
            <a:ext cx="3149600" cy="145895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05840" y="3608114"/>
            <a:ext cx="314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2A1D12"/>
                </a:solidFill>
                <a:latin typeface="Calibri"/>
              </a:rPr>
              <a:t>PurpleAir (red ciudadana): cientos de sensores en Brasil, Paraguay y Chile — casi nada en Argentina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29760" y="1966280"/>
            <a:ext cx="3332480" cy="2253339"/>
          </a:xfrm>
          <a:prstGeom prst="roundRect">
            <a:avLst>
              <a:gd name="adj" fmla="val 4500"/>
            </a:avLst>
          </a:prstGeom>
          <a:solidFill>
            <a:srgbClr val="F0EBE2"/>
          </a:solidFill>
          <a:ln>
            <a:noFill/>
          </a:ln>
          <a:effectLst>
            <a:outerShdw blurRad="127000" dist="38100" dir="5400000" algn="bl" rotWithShape="0">
              <a:srgbClr val="2A1D12">
                <a:alpha val="18039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openaq_country_fin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21200" y="2057720"/>
            <a:ext cx="3149600" cy="1476099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21200" y="3625259"/>
            <a:ext cx="314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2A1D12"/>
                </a:solidFill>
                <a:latin typeface="Calibri"/>
              </a:rPr>
              <a:t>OpenAQ (red oficial agregada): mismo patrón — Chile con estaciones, Argentina casi vacía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45120" y="1966280"/>
            <a:ext cx="3332480" cy="2253339"/>
          </a:xfrm>
          <a:prstGeom prst="roundRect">
            <a:avLst>
              <a:gd name="adj" fmla="val 4500"/>
            </a:avLst>
          </a:prstGeom>
          <a:solidFill>
            <a:srgbClr val="F0EBE2"/>
          </a:solidFill>
          <a:ln>
            <a:noFill/>
          </a:ln>
          <a:effectLst>
            <a:outerShdw blurRad="127000" dist="38100" dir="5400000" algn="bl" rotWithShape="0">
              <a:srgbClr val="2A1D12">
                <a:alpha val="18039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openaq_local_fina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36560" y="2057720"/>
            <a:ext cx="3149600" cy="1476099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036560" y="3625259"/>
            <a:ext cx="314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2A1D12"/>
                </a:solidFill>
                <a:latin typeface="Calibri"/>
              </a:rPr>
              <a:t>Alrededor de Saladillo y 25 de Mayo: un solo punto en el mapa — el nuestro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4402499"/>
            <a:ext cx="10363200" cy="868680"/>
          </a:xfrm>
          <a:prstGeom prst="roundRect">
            <a:avLst>
              <a:gd name="adj" fmla="val 4500"/>
            </a:avLst>
          </a:prstGeom>
          <a:solidFill>
            <a:srgbClr val="F0EBE2"/>
          </a:solidFill>
          <a:ln>
            <a:noFill/>
          </a:ln>
          <a:effectLst>
            <a:outerShdw blurRad="127000" dist="38100" dir="5400000" algn="bl" rotWithShape="0">
              <a:srgbClr val="2A1D12">
                <a:alpha val="18039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88720" y="4539659"/>
            <a:ext cx="9814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A1D12"/>
                </a:solidFill>
                <a:latin typeface="Calibri"/>
              </a:rPr>
              <a:t>“La contaminación por material particulado fino (PM2.5) es uno de los mayores riesgos externos para la salud humana — y sin embargo sigue gravemente sub-monitoreada, sobre todo en las regiones con más contaminación y menos datos.”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978571"/>
            <a:ext cx="98145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8A7A6A"/>
                </a:solidFill>
                <a:latin typeface="Calibri"/>
              </a:rPr>
              <a:t>— C. Hasenkopf et al., Energy Policy Institute at the University of Chicago (EPIC), 2023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0080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>
                <a:solidFill>
                  <a:srgbClr val="8A7A6A"/>
                </a:solidFill>
                <a:latin typeface="Calibri"/>
              </a:rPr>
              <a:t>Ciencia Ciudadana Ambiental · Saladillo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57432" y="6400800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50">
                <a:solidFill>
                  <a:srgbClr val="8A7A6A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9B3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40080"/>
            <a:ext cx="292608" cy="29260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457200"/>
            <a:ext cx="1024128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600" b="1">
                <a:solidFill>
                  <a:srgbClr val="2A1D12"/>
                </a:solidFill>
                <a:latin typeface="Calibri"/>
              </a:rPr>
              <a:t>Dónde están las 5 escuelas</a:t>
            </a:r>
          </a:p>
        </p:txBody>
      </p:sp>
      <p:pic>
        <p:nvPicPr>
          <p:cNvPr id="5" name="Picture 4" descr="mapa_escuela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17796" y="1508760"/>
            <a:ext cx="6956408" cy="4525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>
                <a:solidFill>
                  <a:srgbClr val="8A7A6A"/>
                </a:solidFill>
                <a:latin typeface="Calibri"/>
              </a:rPr>
              <a:t>Ciencia Ciudadana Ambiental · Saladillo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57432" y="6400800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50">
                <a:solidFill>
                  <a:srgbClr val="8A7A6A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9B3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40080"/>
            <a:ext cx="292608" cy="29260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457200"/>
            <a:ext cx="1024128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600" b="1">
                <a:solidFill>
                  <a:srgbClr val="2A1D12"/>
                </a:solidFill>
                <a:latin typeface="Calibri"/>
              </a:rPr>
              <a:t>Qué necesitamos de cada institución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1874520"/>
            <a:ext cx="4724400" cy="2011680"/>
          </a:xfrm>
          <a:prstGeom prst="roundRect">
            <a:avLst>
              <a:gd name="adj" fmla="val 4500"/>
            </a:avLst>
          </a:prstGeom>
          <a:solidFill>
            <a:srgbClr val="F0EBE2"/>
          </a:solidFill>
          <a:ln>
            <a:noFill/>
          </a:ln>
          <a:effectLst>
            <a:outerShdw blurRad="127000" dist="38100" dir="5400000" algn="bl" rotWithShape="0">
              <a:srgbClr val="2A1D12">
                <a:alpha val="18039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2103120"/>
            <a:ext cx="426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A1D12"/>
                </a:solidFill>
                <a:latin typeface="Calibri"/>
              </a:rPr>
              <a:t>Un lugar para el sensor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2560320"/>
            <a:ext cx="4267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8A7A6A"/>
                </a:solidFill>
                <a:latin typeface="Calibri"/>
              </a:rPr>
              <a:t>Un punto exterior, con buena exposición al aire y protegido de lluvia directa — sobre un muro o baranda, a 2-4 m de altura. Lo definimos juntos en la visita.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53200" y="1874520"/>
            <a:ext cx="4724400" cy="2011680"/>
          </a:xfrm>
          <a:prstGeom prst="roundRect">
            <a:avLst>
              <a:gd name="adj" fmla="val 4500"/>
            </a:avLst>
          </a:prstGeom>
          <a:solidFill>
            <a:srgbClr val="F0EBE2"/>
          </a:solidFill>
          <a:ln>
            <a:noFill/>
          </a:ln>
          <a:effectLst>
            <a:outerShdw blurRad="127000" dist="38100" dir="5400000" algn="bl" rotWithShape="0">
              <a:srgbClr val="2A1D12">
                <a:alpha val="18039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81800" y="2103120"/>
            <a:ext cx="426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A1D12"/>
                </a:solidFill>
                <a:latin typeface="Calibri"/>
              </a:rPr>
              <a:t>Energía cerca del punto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81800" y="2560320"/>
            <a:ext cx="4267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8A7A6A"/>
                </a:solidFill>
                <a:latin typeface="Calibri"/>
              </a:rPr>
              <a:t>Un toma corriente a alcance del cable (o cerca, para extender). El sensor consume muy poco — similar a un router hogareño.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4114800"/>
            <a:ext cx="4724400" cy="2011680"/>
          </a:xfrm>
          <a:prstGeom prst="roundRect">
            <a:avLst>
              <a:gd name="adj" fmla="val 4500"/>
            </a:avLst>
          </a:prstGeom>
          <a:solidFill>
            <a:srgbClr val="F0EBE2"/>
          </a:solidFill>
          <a:ln>
            <a:noFill/>
          </a:ln>
          <a:effectLst>
            <a:outerShdw blurRad="127000" dist="38100" dir="5400000" algn="bl" rotWithShape="0">
              <a:srgbClr val="2A1D12">
                <a:alpha val="18039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4343400"/>
            <a:ext cx="426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A1D12"/>
                </a:solidFill>
                <a:latin typeface="Calibri"/>
              </a:rPr>
              <a:t>WiFi o alternativa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4800600"/>
            <a:ext cx="4267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8A7A6A"/>
                </a:solidFill>
                <a:latin typeface="Calibri"/>
              </a:rPr>
              <a:t>Acceso a la red WiFi de la institución. Si no es posible, se evalúa conectividad por datos móviles caso por caso.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53200" y="4114800"/>
            <a:ext cx="4724400" cy="2011680"/>
          </a:xfrm>
          <a:prstGeom prst="roundRect">
            <a:avLst>
              <a:gd name="adj" fmla="val 4500"/>
            </a:avLst>
          </a:prstGeom>
          <a:solidFill>
            <a:srgbClr val="F0EBE2"/>
          </a:solidFill>
          <a:ln>
            <a:noFill/>
          </a:ln>
          <a:effectLst>
            <a:outerShdw blurRad="127000" dist="38100" dir="5400000" algn="bl" rotWithShape="0">
              <a:srgbClr val="2A1D12">
                <a:alpha val="18039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81800" y="4343400"/>
            <a:ext cx="426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A1D12"/>
                </a:solidFill>
                <a:latin typeface="Calibri"/>
              </a:rPr>
              <a:t>Un referente de contacto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81800" y="4800600"/>
            <a:ext cx="4267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8A7A6A"/>
                </a:solidFill>
                <a:latin typeface="Calibri"/>
              </a:rPr>
              <a:t>Alguien del equipo directivo o docente que autorice el acceso el día de instalación y sea el enlace del proyecto en la escuela.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40080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>
                <a:solidFill>
                  <a:srgbClr val="8A7A6A"/>
                </a:solidFill>
                <a:latin typeface="Calibri"/>
              </a:rPr>
              <a:t>Ciencia Ciudadana Ambiental · Saladillo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57432" y="6400800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50">
                <a:solidFill>
                  <a:srgbClr val="8A7A6A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9B3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40080"/>
            <a:ext cx="292608" cy="29260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457200"/>
            <a:ext cx="1024128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600" b="1">
                <a:solidFill>
                  <a:srgbClr val="2A1D12"/>
                </a:solidFill>
                <a:latin typeface="Calibri"/>
              </a:rPr>
              <a:t>Cronograma — próximos pasos</a:t>
            </a:r>
          </a:p>
        </p:txBody>
      </p:sp>
      <p:sp>
        <p:nvSpPr>
          <p:cNvPr id="5" name="Oval 4"/>
          <p:cNvSpPr/>
          <p:nvPr/>
        </p:nvSpPr>
        <p:spPr>
          <a:xfrm>
            <a:off x="640080" y="2377440"/>
            <a:ext cx="640080" cy="640080"/>
          </a:xfrm>
          <a:prstGeom prst="ellipse">
            <a:avLst/>
          </a:prstGeom>
          <a:solidFill>
            <a:srgbClr val="B84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108960"/>
            <a:ext cx="262509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>
                <a:solidFill>
                  <a:srgbClr val="9B3D00"/>
                </a:solidFill>
                <a:latin typeface="Calibri"/>
              </a:rPr>
              <a:t>16 SEP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410712"/>
            <a:ext cx="262509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2A1D12"/>
                </a:solidFill>
                <a:latin typeface="Calibri"/>
              </a:rPr>
              <a:t>Reunión con equipos directivos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886200"/>
            <a:ext cx="262509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8A7A6A"/>
                </a:solidFill>
                <a:latin typeface="Calibri"/>
              </a:rPr>
              <a:t>Coordinación institucional: presentación del proyecto y definición de un referente por escuela.</a:t>
            </a:r>
          </a:p>
        </p:txBody>
      </p:sp>
      <p:sp>
        <p:nvSpPr>
          <p:cNvPr id="9" name="Oval 8"/>
          <p:cNvSpPr/>
          <p:nvPr/>
        </p:nvSpPr>
        <p:spPr>
          <a:xfrm>
            <a:off x="3402330" y="2377440"/>
            <a:ext cx="640080" cy="640080"/>
          </a:xfrm>
          <a:prstGeom prst="ellipse">
            <a:avLst/>
          </a:prstGeom>
          <a:solidFill>
            <a:srgbClr val="B84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02330" y="3108960"/>
            <a:ext cx="262509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>
                <a:solidFill>
                  <a:srgbClr val="9B3D00"/>
                </a:solidFill>
                <a:latin typeface="Calibri"/>
              </a:rPr>
              <a:t>PRÓXIMAS SEMANAS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02330" y="3410712"/>
            <a:ext cx="262509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2A1D12"/>
                </a:solidFill>
                <a:latin typeface="Calibri"/>
              </a:rPr>
              <a:t>Relevamiento en sitio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02330" y="3886200"/>
            <a:ext cx="262509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8A7A6A"/>
                </a:solidFill>
                <a:latin typeface="Calibri"/>
              </a:rPr>
              <a:t>Visita a cada institución para definir junto al referente el punto exacto de instalación.</a:t>
            </a:r>
          </a:p>
        </p:txBody>
      </p:sp>
      <p:sp>
        <p:nvSpPr>
          <p:cNvPr id="13" name="Oval 12"/>
          <p:cNvSpPr/>
          <p:nvPr/>
        </p:nvSpPr>
        <p:spPr>
          <a:xfrm>
            <a:off x="6164580" y="2377440"/>
            <a:ext cx="640080" cy="640080"/>
          </a:xfrm>
          <a:prstGeom prst="ellipse">
            <a:avLst/>
          </a:prstGeom>
          <a:solidFill>
            <a:srgbClr val="B84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64580" y="3108960"/>
            <a:ext cx="262509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>
                <a:solidFill>
                  <a:srgbClr val="9B3D00"/>
                </a:solidFill>
                <a:latin typeface="Calibri"/>
              </a:rPr>
              <a:t>TRAS EL RELEVAMIENTO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64580" y="3410712"/>
            <a:ext cx="262509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2A1D12"/>
                </a:solidFill>
                <a:latin typeface="Calibri"/>
              </a:rPr>
              <a:t>Instalación y calibración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64580" y="3886200"/>
            <a:ext cx="262509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8A7A6A"/>
                </a:solidFill>
                <a:latin typeface="Calibri"/>
              </a:rPr>
              <a:t>Montaje del sensor, conexión a energía/WiFi y verificación de la primera lectura.</a:t>
            </a:r>
          </a:p>
        </p:txBody>
      </p:sp>
      <p:sp>
        <p:nvSpPr>
          <p:cNvPr id="17" name="Oval 16"/>
          <p:cNvSpPr/>
          <p:nvPr/>
        </p:nvSpPr>
        <p:spPr>
          <a:xfrm>
            <a:off x="8926830" y="2377440"/>
            <a:ext cx="640080" cy="640080"/>
          </a:xfrm>
          <a:prstGeom prst="ellipse">
            <a:avLst/>
          </a:prstGeom>
          <a:solidFill>
            <a:srgbClr val="B84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26830" y="3108960"/>
            <a:ext cx="262509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>
                <a:solidFill>
                  <a:srgbClr val="9B3D00"/>
                </a:solidFill>
                <a:latin typeface="Calibri"/>
              </a:rPr>
              <a:t>META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26830" y="3410712"/>
            <a:ext cx="262509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2A1D12"/>
                </a:solidFill>
                <a:latin typeface="Calibri"/>
              </a:rPr>
              <a:t>Datos en vivo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26830" y="3886200"/>
            <a:ext cx="262509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8A7A6A"/>
                </a:solidFill>
                <a:latin typeface="Calibri"/>
              </a:rPr>
              <a:t>Cada escuela visible en aq.lemeit.ar, con acceso público a su propio historial.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640080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>
                <a:solidFill>
                  <a:srgbClr val="8A7A6A"/>
                </a:solidFill>
                <a:latin typeface="Calibri"/>
              </a:rPr>
              <a:t>Ciencia Ciudadana Ambiental · Saladillo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57432" y="6400800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50">
                <a:solidFill>
                  <a:srgbClr val="8A7A6A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2E2822"/>
        </a:solidFill>
      </p:bgPr>
    </p:bg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16"/>
          <p:cNvSpPr/>
          <p:nvPr/>
        </p:nvSpPr>
        <p:spPr>
          <a:xfrm>
            <a:off x="822960" y="640080"/>
            <a:ext cx="640080" cy="640080"/>
          </a:xfrm>
          <a:prstGeom prst="ellipse">
            <a:avLst/>
          </a:prstGeom>
          <a:solidFill>
            <a:srgbClr val="B8480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ptx_build/icons/cierre.png" id="292" name="Google Shape;292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60120" y="777240"/>
            <a:ext cx="365760" cy="365760"/>
          </a:xfrm>
          <a:prstGeom prst="rect">
            <a:avLst/>
          </a:prstGeom>
          <a:noFill/>
          <a:ln>
            <a:noFill/>
          </a:ln>
        </p:spPr>
      </p:pic>
      <p:sp>
        <p:nvSpPr>
          <p:cNvPr id="293" name="Google Shape;293;p16"/>
          <p:cNvSpPr txBox="1"/>
          <p:nvPr/>
        </p:nvSpPr>
        <p:spPr>
          <a:xfrm>
            <a:off x="822960" y="1508760"/>
            <a:ext cx="960120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Calibri"/>
              <a:buNone/>
            </a:pPr>
            <a:r>
              <a:rPr b="1" i="0" lang="en-US" sz="3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Lo que proponemos a la comunidad educativa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4" name="Google Shape;294;p16"/>
          <p:cNvSpPr txBox="1"/>
          <p:nvPr/>
        </p:nvSpPr>
        <p:spPr>
          <a:xfrm>
            <a:off x="822960" y="2514600"/>
            <a:ext cx="9784080" cy="2011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-228600" lvl="0" marL="22860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E8DFD6"/>
              </a:buClr>
              <a:buSzPts val="1700"/>
              <a:buFont typeface="Calibri"/>
              <a:buChar char="•"/>
            </a:pPr>
            <a:r>
              <a:rPr b="0" i="0" lang="en-US" sz="1800" u="none" cap="none" strike="noStrike">
                <a:solidFill>
                  <a:srgbClr val="E8DFD6"/>
                </a:solidFill>
                <a:latin typeface="Calibri"/>
                <a:ea typeface="Calibri"/>
                <a:cs typeface="Calibri"/>
                <a:sym typeface="Calibri"/>
              </a:rPr>
              <a:t>Acompañar y difundir el proyecto entre las escuelas del distrito.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28600" lvl="0" marL="228600" marR="0" rtl="0" algn="l">
              <a:lnSpc>
                <a:spcPct val="125000"/>
              </a:lnSpc>
              <a:spcBef>
                <a:spcPts val="1400"/>
              </a:spcBef>
              <a:spcAft>
                <a:spcPts val="0"/>
              </a:spcAft>
              <a:buClr>
                <a:srgbClr val="E8DFD6"/>
              </a:buClr>
              <a:buSzPts val="1700"/>
              <a:buFont typeface="Calibri"/>
              <a:buChar char="•"/>
            </a:pPr>
            <a:r>
              <a:rPr b="0" i="0" lang="en-US" sz="1800" u="none" cap="none" strike="noStrike">
                <a:solidFill>
                  <a:srgbClr val="E8DFD6"/>
                </a:solidFill>
                <a:latin typeface="Calibri"/>
                <a:ea typeface="Calibri"/>
                <a:cs typeface="Calibri"/>
                <a:sym typeface="Calibri"/>
              </a:rPr>
              <a:t>Articular con la implementación de la EAI: contenidos y capacitación docente, en conjunto con el equipo de educación.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28600" lvl="0" marL="228600" marR="0" rtl="0" algn="l">
              <a:lnSpc>
                <a:spcPct val="125000"/>
              </a:lnSpc>
              <a:spcBef>
                <a:spcPts val="1400"/>
              </a:spcBef>
              <a:spcAft>
                <a:spcPts val="0"/>
              </a:spcAft>
              <a:buClr>
                <a:srgbClr val="E8DFD6"/>
              </a:buClr>
              <a:buSzPts val="1700"/>
              <a:buFont typeface="Calibri"/>
              <a:buChar char="•"/>
            </a:pPr>
            <a:r>
              <a:rPr b="0" i="0" lang="en-US" sz="1800" u="none" cap="none" strike="noStrike">
                <a:solidFill>
                  <a:srgbClr val="E8DFD6"/>
                </a:solidFill>
                <a:latin typeface="Calibri"/>
                <a:ea typeface="Calibri"/>
                <a:cs typeface="Calibri"/>
                <a:sym typeface="Calibri"/>
              </a:rPr>
              <a:t>Sumar nuevas escuelas como sedes de sensores y usar el portal como recurso de aula.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95" name="Google Shape;295;p16"/>
          <p:cNvCxnSpPr/>
          <p:nvPr/>
        </p:nvCxnSpPr>
        <p:spPr>
          <a:xfrm>
            <a:off x="822960" y="5029200"/>
            <a:ext cx="9784080" cy="0"/>
          </a:xfrm>
          <a:prstGeom prst="straightConnector1">
            <a:avLst/>
          </a:prstGeom>
          <a:noFill/>
          <a:ln cap="flat" cmpd="sng" w="12700">
            <a:solidFill>
              <a:srgbClr val="534A3D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descr="/home/claude/pptx_build/icons/email.png" id="296" name="Google Shape;29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22960" y="5349240"/>
            <a:ext cx="274320" cy="274320"/>
          </a:xfrm>
          <a:prstGeom prst="rect">
            <a:avLst/>
          </a:prstGeom>
          <a:noFill/>
          <a:ln>
            <a:noFill/>
          </a:ln>
        </p:spPr>
      </p:pic>
      <p:sp>
        <p:nvSpPr>
          <p:cNvPr id="297" name="Google Shape;297;p16"/>
          <p:cNvSpPr txBox="1"/>
          <p:nvPr/>
        </p:nvSpPr>
        <p:spPr>
          <a:xfrm>
            <a:off x="1207008" y="5330952"/>
            <a:ext cx="32004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50"/>
              <a:buFont typeface="JetBrains Mono"/>
              <a:buNone/>
            </a:pPr>
            <a:r>
              <a:rPr b="0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lucianolamaita@gmail.com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/home/claude/pptx_build/icons/globe.png" id="298" name="Google Shape;298;p1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480560" y="5349240"/>
            <a:ext cx="274320" cy="274320"/>
          </a:xfrm>
          <a:prstGeom prst="rect">
            <a:avLst/>
          </a:prstGeom>
          <a:noFill/>
          <a:ln>
            <a:noFill/>
          </a:ln>
        </p:spPr>
      </p:pic>
      <p:sp>
        <p:nvSpPr>
          <p:cNvPr id="299" name="Google Shape;299;p16"/>
          <p:cNvSpPr txBox="1"/>
          <p:nvPr/>
        </p:nvSpPr>
        <p:spPr>
          <a:xfrm>
            <a:off x="4864608" y="5330952"/>
            <a:ext cx="20116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50"/>
              <a:buFont typeface="JetBrains Mono"/>
              <a:buNone/>
            </a:pPr>
            <a:r>
              <a:rPr b="0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profe.lemeit.ar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/home/claude/pptx_build/icons/portal.png" id="300" name="Google Shape;300;p16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858000" y="5349240"/>
            <a:ext cx="274320" cy="274320"/>
          </a:xfrm>
          <a:prstGeom prst="rect">
            <a:avLst/>
          </a:prstGeom>
          <a:noFill/>
          <a:ln>
            <a:noFill/>
          </a:ln>
        </p:spPr>
      </p:pic>
      <p:sp>
        <p:nvSpPr>
          <p:cNvPr id="301" name="Google Shape;301;p16"/>
          <p:cNvSpPr txBox="1"/>
          <p:nvPr/>
        </p:nvSpPr>
        <p:spPr>
          <a:xfrm>
            <a:off x="7242048" y="5330952"/>
            <a:ext cx="20116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50"/>
              <a:buFont typeface="JetBrains Mono"/>
              <a:buNone/>
            </a:pPr>
            <a:r>
              <a:rPr b="0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aq.lemeit.ar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2" name="Google Shape;302;p16"/>
          <p:cNvSpPr txBox="1"/>
          <p:nvPr/>
        </p:nvSpPr>
        <p:spPr>
          <a:xfrm>
            <a:off x="822960" y="5989320"/>
            <a:ext cx="4572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9BEB2"/>
              </a:buClr>
              <a:buSzPts val="1800"/>
              <a:buFont typeface="Calibri"/>
              <a:buNone/>
            </a:pPr>
            <a:r>
              <a:rPr b="0" i="1" lang="en-US" sz="1900" u="none" cap="none" strike="noStrike">
                <a:solidFill>
                  <a:srgbClr val="C9BEB2"/>
                </a:solidFill>
                <a:latin typeface="Calibri"/>
                <a:ea typeface="Calibri"/>
                <a:cs typeface="Calibri"/>
                <a:sym typeface="Calibri"/>
              </a:rPr>
              <a:t>Gracias.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3" name="Google Shape;303;p16"/>
          <p:cNvSpPr txBox="1"/>
          <p:nvPr/>
        </p:nvSpPr>
        <p:spPr>
          <a:xfrm>
            <a:off x="11457432" y="6400800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C9BEB2"/>
              </a:buClr>
              <a:buSzPts val="1000"/>
              <a:buFont typeface="Calibri"/>
              <a:buNone/>
            </a:pPr>
            <a:r>
              <a:rPr lang="en-US" sz="1250">
                <a:solidFill>
                  <a:srgbClr val="C9BEB2"/>
                </a:solidFill>
                <a:latin typeface="Calibri"/>
                <a:ea typeface="Calibri"/>
                <a:cs typeface="Calibri"/>
                <a:sym typeface="Calibri"/>
              </a:rPr>
              <a:t>19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4" name="Google Shape;304;p16"/>
          <p:cNvSpPr txBox="1"/>
          <p:nvPr/>
        </p:nvSpPr>
        <p:spPr>
          <a:xfrm>
            <a:off x="548640" y="6400800"/>
            <a:ext cx="4572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9BEB2"/>
              </a:buClr>
              <a:buSzPts val="1000"/>
              <a:buFont typeface="Calibri"/>
              <a:buNone/>
            </a:pPr>
            <a:r>
              <a:rPr b="0" i="0" lang="en-US" sz="1250" u="none" cap="none" strike="noStrike">
                <a:solidFill>
                  <a:srgbClr val="C9BEB2"/>
                </a:solidFill>
                <a:latin typeface="Calibri"/>
                <a:ea typeface="Calibri"/>
                <a:cs typeface="Calibri"/>
                <a:sym typeface="Calibri"/>
              </a:rPr>
              <a:t>Ciencia Ciudadana Ambiental · Saladillo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